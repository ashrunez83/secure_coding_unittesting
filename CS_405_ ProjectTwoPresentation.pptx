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64" r:id="rId18"/>
    <p:sldId id="265" r:id="rId19"/>
    <p:sldId id="266" r:id="rId20"/>
    <p:sldId id="267" r:id="rId21"/>
    <p:sldId id="268" r:id="rId22"/>
    <p:sldId id="269" r:id="rId23"/>
  </p:sldIdLst>
  <p:sldSz cx="12192000" cy="6858000"/>
  <p:notesSz cx="6858000" cy="9144000"/>
  <p:embeddedFontLst>
    <p:embeddedFont>
      <p:font typeface="Century Gothic" panose="020B0502020202020204" pitchFamily="34" charset="0"/>
      <p:regular r:id="rId25"/>
      <p:bold r:id="rId26"/>
      <p:italic r:id="rId27"/>
      <p:boldItalic r:id="rId28"/>
    </p:embeddedFont>
  </p:embeddedFontLst>
  <p:custDataLst>
    <p:tags r:id="rId2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83"/>
    <p:restoredTop sz="97670"/>
  </p:normalViewPr>
  <p:slideViewPr>
    <p:cSldViewPr snapToGrid="0">
      <p:cViewPr varScale="1">
        <p:scale>
          <a:sx n="226" d="100"/>
          <a:sy n="226" d="100"/>
        </p:scale>
        <p:origin x="2768"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customschemas.google.com/relationships/presentationmetadata" Target="meta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1D48911-1480-27D1-083C-C31E13A4573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3711EF34-93E9-1314-22E4-B46AD0BD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CD4D992A-5F29-5DDD-C13A-9ADE98DFCB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25599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8513B35D-79C2-07F1-4EA0-DCAD719A85F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06D3248-9591-747B-BD3C-B038360255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A33F675E-08C0-DBAE-9D95-1F1832BBDC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39472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4E9E7C50-5752-9A39-E298-97F5DD8F245E}"/>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A245461B-DA17-D246-CB76-9D8365BA6A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BDF23831-6E27-B787-A1EC-4240EEB0E7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71962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2D530C6B-2E08-E64B-8C3A-DA01F8848345}"/>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292C54AD-0F24-A3AC-9BB1-B132622F5C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9EE8EC4E-116E-4CE3-43CB-1E1FB9FC2B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48587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F66B00A6-DB38-73F6-1DD8-7DEC4E520F31}"/>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1E7A477-2514-89E3-330A-8907746B1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93" name="Google Shape;193;g9504e29505_0_0:notes">
            <a:extLst>
              <a:ext uri="{FF2B5EF4-FFF2-40B4-BE49-F238E27FC236}">
                <a16:creationId xmlns:a16="http://schemas.microsoft.com/office/drawing/2014/main" id="{8EBEF998-CA85-9600-1877-85E14CA442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1125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5.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6.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9.png"/><Relationship Id="rId5" Type="http://schemas.openxmlformats.org/officeDocument/2006/relationships/image" Target="../media/image7.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0.png"/><Relationship Id="rId5" Type="http://schemas.openxmlformats.org/officeDocument/2006/relationships/image" Target="../media/image7.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dirty="0"/>
              <a:t>Green Pace</a:t>
            </a:r>
            <a:endParaRPr dirty="0"/>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Ashley Molina-Runez</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7009"/>
    </mc:Choice>
    <mc:Fallback>
      <p:transition spd="slow" advTm="1700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916774" y="26824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OVERVIEW: DEFENSE IN DEPTH</a:t>
            </a:r>
            <a:endParaRPr dirty="0"/>
          </a:p>
        </p:txBody>
      </p:sp>
      <p:sp>
        <p:nvSpPr>
          <p:cNvPr id="152" name="Google Shape;152;p3"/>
          <p:cNvSpPr txBox="1">
            <a:spLocks noGrp="1"/>
          </p:cNvSpPr>
          <p:nvPr>
            <p:ph type="body" idx="1"/>
          </p:nvPr>
        </p:nvSpPr>
        <p:spPr>
          <a:xfrm>
            <a:off x="624947" y="1781321"/>
            <a:ext cx="11345728" cy="4890411"/>
          </a:xfrm>
          <a:prstGeom prst="rect">
            <a:avLst/>
          </a:prstGeom>
          <a:noFill/>
          <a:ln>
            <a:noFill/>
          </a:ln>
        </p:spPr>
        <p:txBody>
          <a:bodyPr spcFirstLastPara="1" wrap="square" lIns="91425" tIns="45700" rIns="91425" bIns="45700" anchor="t" anchorCtr="0">
            <a:normAutofit/>
          </a:bodyPr>
          <a:lstStyle/>
          <a:p>
            <a:pPr marL="685800" indent="0">
              <a:spcBef>
                <a:spcPts val="0"/>
              </a:spcBef>
              <a:buNone/>
            </a:pPr>
            <a:r>
              <a:rPr lang="en-US" dirty="0"/>
              <a:t>Software development at Green Pace requires consistent implementation of secure principles to all developed applications. Consistent approaches and methodologies must be maintained through all policies that are uniformly defined, implemented, governed, and maintained over time.</a:t>
            </a:r>
            <a:endParaRPr sz="1600"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281163" y="3214954"/>
            <a:ext cx="5629674" cy="3152170"/>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7747"/>
    </mc:Choice>
    <mc:Fallback>
      <p:transition spd="slow" advTm="4774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1304643" y="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261257" y="1426029"/>
            <a:ext cx="2486100" cy="4024200"/>
          </a:xfrm>
          <a:prstGeom prst="rect">
            <a:avLst/>
          </a:prstGeom>
          <a:noFill/>
          <a:ln>
            <a:noFill/>
          </a:ln>
        </p:spPr>
        <p:txBody>
          <a:bodyPr spcFirstLastPara="1" wrap="square" lIns="91425" tIns="45700" rIns="91425" bIns="45700" anchor="t" anchorCtr="0">
            <a:normAutofit lnSpcReduction="10000"/>
          </a:bodyPr>
          <a:lstStyle/>
          <a:p>
            <a:pPr marL="228600" indent="-88900">
              <a:buSzPts val="2200"/>
              <a:buNone/>
            </a:pPr>
            <a:r>
              <a:rPr lang="en-US" dirty="0"/>
              <a:t>Summary of the security risks identified during Project Two, organized by likelihood and priority to illustrate the highest-risk vulnerabilities and recommended focus areas for mitigation.</a:t>
            </a:r>
          </a:p>
          <a:p>
            <a:pPr marL="228600" lvl="0" indent="-88900" algn="l" rtl="0">
              <a:lnSpc>
                <a:spcPct val="90000"/>
              </a:lnSpc>
              <a:spcBef>
                <a:spcPts val="1000"/>
              </a:spcBef>
              <a:spcAft>
                <a:spcPts val="0"/>
              </a:spcAft>
              <a:buClr>
                <a:schemeClr val="lt1"/>
              </a:buClr>
              <a:buSzPts val="2200"/>
              <a:buNone/>
            </a:pPr>
            <a:endParaRPr dirty="0"/>
          </a:p>
        </p:txBody>
      </p:sp>
      <p:graphicFrame>
        <p:nvGraphicFramePr>
          <p:cNvPr id="161" name="Google Shape;161;p4" descr="Alt text required"/>
          <p:cNvGraphicFramePr/>
          <p:nvPr>
            <p:extLst>
              <p:ext uri="{D42A27DB-BD31-4B8C-83A1-F6EECF244321}">
                <p14:modId xmlns:p14="http://schemas.microsoft.com/office/powerpoint/2010/main" val="395690932"/>
              </p:ext>
            </p:extLst>
          </p:nvPr>
        </p:nvGraphicFramePr>
        <p:xfrm>
          <a:off x="4091386" y="1426029"/>
          <a:ext cx="7621643" cy="4459563"/>
        </p:xfrm>
        <a:graphic>
          <a:graphicData uri="http://schemas.openxmlformats.org/drawingml/2006/table">
            <a:tbl>
              <a:tblPr firstRow="1" firstCol="1">
                <a:noFill/>
                <a:tableStyleId>{802198C4-3087-4945-87E3-76CBB3509B7E}</a:tableStyleId>
              </a:tblPr>
              <a:tblGrid>
                <a:gridCol w="3787406">
                  <a:extLst>
                    <a:ext uri="{9D8B030D-6E8A-4147-A177-3AD203B41FA5}">
                      <a16:colId xmlns:a16="http://schemas.microsoft.com/office/drawing/2014/main" val="20000"/>
                    </a:ext>
                  </a:extLst>
                </a:gridCol>
                <a:gridCol w="3834237">
                  <a:extLst>
                    <a:ext uri="{9D8B030D-6E8A-4147-A177-3AD203B41FA5}">
                      <a16:colId xmlns:a16="http://schemas.microsoft.com/office/drawing/2014/main" val="20001"/>
                    </a:ext>
                  </a:extLst>
                </a:gridCol>
              </a:tblGrid>
              <a:tr h="2928257">
                <a:tc>
                  <a:txBody>
                    <a:bodyPr/>
                    <a:lstStyle/>
                    <a:p>
                      <a:pPr algn="ctr"/>
                      <a:r>
                        <a:rPr lang="en-US" sz="2400" u="sng" dirty="0">
                          <a:solidFill>
                            <a:srgbClr val="FFC000"/>
                          </a:solidFill>
                        </a:rPr>
                        <a:t>Likely  </a:t>
                      </a:r>
                    </a:p>
                    <a:p>
                      <a:pPr marL="171450" indent="-171450" algn="l">
                        <a:buFont typeface="Arial" panose="020B0604020202020204" pitchFamily="34" charset="0"/>
                        <a:buChar char="•"/>
                      </a:pPr>
                      <a:r>
                        <a:rPr lang="en-US" sz="1200" dirty="0">
                          <a:solidFill>
                            <a:srgbClr val="FFC000"/>
                          </a:solidFill>
                        </a:rPr>
                        <a:t>STD-003-CPP-Guarantee sufficient storage for char. Data and null terminator</a:t>
                      </a:r>
                    </a:p>
                    <a:p>
                      <a:pPr marL="171450" indent="-171450" algn="l">
                        <a:buFont typeface="Arial" panose="020B0604020202020204" pitchFamily="34" charset="0"/>
                        <a:buChar char="•"/>
                      </a:pPr>
                      <a:r>
                        <a:rPr lang="en-US" sz="1200" dirty="0">
                          <a:solidFill>
                            <a:srgbClr val="FFC000"/>
                          </a:solidFill>
                        </a:rPr>
                        <a:t>STD-004-CPP- Do not pass null terminator char. Sequence to library function expecting a string</a:t>
                      </a:r>
                    </a:p>
                    <a:p>
                      <a:pPr marL="171450" indent="-171450" algn="l">
                        <a:buFont typeface="Arial" panose="020B0604020202020204" pitchFamily="34" charset="0"/>
                        <a:buChar char="•"/>
                      </a:pPr>
                      <a:r>
                        <a:rPr lang="en-US" sz="1200" dirty="0">
                          <a:solidFill>
                            <a:srgbClr val="FFC000"/>
                          </a:solidFill>
                        </a:rPr>
                        <a:t>STD-006-CPP-Do not dereference null pointers</a:t>
                      </a:r>
                    </a:p>
                    <a:p>
                      <a:pPr marL="171450" indent="-171450" algn="l">
                        <a:buFont typeface="Arial" panose="020B0604020202020204" pitchFamily="34" charset="0"/>
                        <a:buChar char="•"/>
                      </a:pPr>
                      <a:r>
                        <a:rPr lang="en-US" sz="1200" dirty="0">
                          <a:solidFill>
                            <a:srgbClr val="FFC000"/>
                          </a:solidFill>
                        </a:rPr>
                        <a:t>STD-009-CPP-Free dynamically located memory no longer needed</a:t>
                      </a:r>
                    </a:p>
                    <a:p>
                      <a:pPr marL="171450" indent="-171450" algn="l">
                        <a:buFont typeface="Arial" panose="020B0604020202020204" pitchFamily="34" charset="0"/>
                        <a:buChar char="•"/>
                      </a:pPr>
                      <a:r>
                        <a:rPr lang="en-US" sz="1200" dirty="0">
                          <a:solidFill>
                            <a:srgbClr val="FFC000"/>
                          </a:solidFill>
                        </a:rPr>
                        <a:t>STD-010-CPP-Do not perform or use out of bounds pointers or array subscripts</a:t>
                      </a:r>
                    </a:p>
                    <a:p>
                      <a:pPr marL="171450" indent="-171450">
                        <a:buFont typeface="Arial" panose="020B0604020202020204" pitchFamily="34" charset="0"/>
                        <a:buChar char="•"/>
                      </a:pPr>
                      <a:r>
                        <a:rPr lang="en-US" sz="1200" dirty="0">
                          <a:solidFill>
                            <a:srgbClr val="FFC000"/>
                          </a:solidFill>
                        </a:rPr>
                        <a:t>CSP-001 – Validate Input Data</a:t>
                      </a:r>
                    </a:p>
                    <a:p>
                      <a:pPr marL="171450" indent="-171450">
                        <a:buFont typeface="Arial" panose="020B0604020202020204" pitchFamily="34" charset="0"/>
                        <a:buChar char="•"/>
                      </a:pPr>
                      <a:r>
                        <a:rPr lang="en-US" sz="1200" dirty="0">
                          <a:solidFill>
                            <a:srgbClr val="FFC000"/>
                          </a:solidFill>
                        </a:rPr>
                        <a:t>CSP-005 – Default Deny</a:t>
                      </a:r>
                    </a:p>
                    <a:p>
                      <a:pPr marL="171450" indent="-171450">
                        <a:buFont typeface="Arial" panose="020B0604020202020204" pitchFamily="34" charset="0"/>
                        <a:buChar char="•"/>
                      </a:pPr>
                      <a:r>
                        <a:rPr lang="en-US" sz="1200" dirty="0">
                          <a:solidFill>
                            <a:srgbClr val="FFC000"/>
                          </a:solidFill>
                        </a:rPr>
                        <a:t>CSP-006 – Principle of Least Privilege</a:t>
                      </a:r>
                    </a:p>
                    <a:p>
                      <a:pPr marL="171450" indent="-171450">
                        <a:buFont typeface="Arial" panose="020B0604020202020204" pitchFamily="34" charset="0"/>
                        <a:buChar char="•"/>
                      </a:pPr>
                      <a:r>
                        <a:rPr lang="en-US" sz="1200" dirty="0">
                          <a:solidFill>
                            <a:srgbClr val="FFC000"/>
                          </a:solidFill>
                        </a:rPr>
                        <a:t>CSP-007 – Sanitize Data Sent to Other Systems</a:t>
                      </a:r>
                    </a:p>
                  </a:txBody>
                  <a:tcPr marL="91425" marR="91425" marT="91425" marB="914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400" u="sng" strike="noStrike" cap="none" dirty="0">
                          <a:solidFill>
                            <a:srgbClr val="C00000"/>
                          </a:solidFill>
                        </a:rPr>
                        <a:t>Priority</a:t>
                      </a:r>
                    </a:p>
                    <a:p>
                      <a:pPr marL="171450" indent="-171450" algn="l">
                        <a:buFont typeface="Arial" panose="020B0604020202020204" pitchFamily="34" charset="0"/>
                        <a:buChar char="•"/>
                      </a:pPr>
                      <a:r>
                        <a:rPr lang="en-US" sz="1200" dirty="0">
                          <a:solidFill>
                            <a:srgbClr val="FF0000"/>
                          </a:solidFill>
                        </a:rPr>
                        <a:t>STD-001-CPP- Do not modify string literals</a:t>
                      </a:r>
                    </a:p>
                    <a:p>
                      <a:pPr marL="171450" indent="-171450" algn="l">
                        <a:buFont typeface="Arial" panose="020B0604020202020204" pitchFamily="34" charset="0"/>
                        <a:buChar char="•"/>
                      </a:pPr>
                      <a:r>
                        <a:rPr lang="en-US" sz="1200" dirty="0">
                          <a:solidFill>
                            <a:schemeClr val="accent1"/>
                          </a:solidFill>
                        </a:rPr>
                        <a:t>STD-002-CPP-Ensure operations for signed integers do not result in overflow</a:t>
                      </a:r>
                    </a:p>
                    <a:p>
                      <a:pPr marL="171450" indent="-171450" algn="l">
                        <a:buFont typeface="Arial" panose="020B0604020202020204" pitchFamily="34" charset="0"/>
                        <a:buChar char="•"/>
                      </a:pPr>
                      <a:r>
                        <a:rPr lang="en-US" sz="1200" dirty="0">
                          <a:solidFill>
                            <a:srgbClr val="FF0000"/>
                          </a:solidFill>
                        </a:rPr>
                        <a:t>STD-005-CPP- Only free memory dynamically allocated</a:t>
                      </a:r>
                    </a:p>
                    <a:p>
                      <a:pPr marL="171450" indent="-171450" algn="l">
                        <a:buFont typeface="Arial" panose="020B0604020202020204" pitchFamily="34" charset="0"/>
                        <a:buChar char="•"/>
                      </a:pPr>
                      <a:r>
                        <a:rPr lang="en-US" sz="1200" dirty="0">
                          <a:solidFill>
                            <a:srgbClr val="FF0000"/>
                          </a:solidFill>
                        </a:rPr>
                        <a:t>CSP-002 – Heed Compiler Warnings</a:t>
                      </a:r>
                    </a:p>
                    <a:p>
                      <a:pPr marL="171450" indent="-171450" algn="l">
                        <a:buFont typeface="Arial" panose="020B0604020202020204" pitchFamily="34" charset="0"/>
                        <a:buChar char="•"/>
                      </a:pPr>
                      <a:r>
                        <a:rPr lang="en-US" sz="1200" dirty="0">
                          <a:solidFill>
                            <a:srgbClr val="FF0000"/>
                          </a:solidFill>
                        </a:rPr>
                        <a:t>CSP-003 – Architect and Design for Security Principles</a:t>
                      </a:r>
                    </a:p>
                    <a:p>
                      <a:pPr marL="171450" indent="-171450" algn="l">
                        <a:buFont typeface="Arial" panose="020B0604020202020204" pitchFamily="34" charset="0"/>
                        <a:buChar char="•"/>
                      </a:pPr>
                      <a:r>
                        <a:rPr lang="en-US" sz="1200" dirty="0">
                          <a:solidFill>
                            <a:srgbClr val="FF0000"/>
                          </a:solidFill>
                        </a:rPr>
                        <a:t>CSP-008 – Defense in Depth</a:t>
                      </a:r>
                    </a:p>
                    <a:p>
                      <a:pPr marL="171450" indent="-171450" algn="l">
                        <a:buFont typeface="Arial" panose="020B0604020202020204" pitchFamily="34" charset="0"/>
                        <a:buChar char="•"/>
                      </a:pPr>
                      <a:r>
                        <a:rPr lang="en-US" sz="1200" dirty="0">
                          <a:solidFill>
                            <a:srgbClr val="FF0000"/>
                          </a:solidFill>
                        </a:rPr>
                        <a:t>CSP-009 – Use Effective QA Techniques</a:t>
                      </a:r>
                    </a:p>
                    <a:p>
                      <a:pPr marL="171450" indent="-171450" algn="l">
                        <a:buFont typeface="Arial" panose="020B0604020202020204" pitchFamily="34" charset="0"/>
                        <a:buChar char="•"/>
                      </a:pPr>
                      <a:r>
                        <a:rPr lang="en-US" sz="1200" dirty="0">
                          <a:solidFill>
                            <a:srgbClr val="FF0000"/>
                          </a:solidFill>
                        </a:rPr>
                        <a:t>CSP-010 – Adopt a Secure Coding Standard</a:t>
                      </a:r>
                    </a:p>
                  </a:txBody>
                  <a:tcPr marL="91425" marR="91425" marT="91425" marB="91425">
                    <a:lnL w="12700" cap="flat" cmpd="sng" algn="ctr">
                      <a:solidFill>
                        <a:schemeClr val="tx1"/>
                      </a:solidFill>
                      <a:prstDash val="solid"/>
                      <a:round/>
                      <a:headEnd type="none" w="med" len="med"/>
                      <a:tailEnd type="none" w="med" len="med"/>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531306">
                <a:tc>
                  <a:txBody>
                    <a:bodyPr/>
                    <a:lstStyle/>
                    <a:p>
                      <a:pPr marL="0" marR="0" lvl="0" indent="0" algn="ctr" rtl="0">
                        <a:lnSpc>
                          <a:spcPct val="100000"/>
                        </a:lnSpc>
                        <a:spcBef>
                          <a:spcPts val="0"/>
                        </a:spcBef>
                        <a:spcAft>
                          <a:spcPts val="0"/>
                        </a:spcAft>
                        <a:buClr>
                          <a:srgbClr val="000000"/>
                        </a:buClr>
                        <a:buSzPts val="3600"/>
                        <a:buFont typeface="Arial"/>
                        <a:buNone/>
                      </a:pPr>
                      <a:r>
                        <a:rPr lang="en-US" sz="2400" u="sng" strike="noStrike" cap="none" dirty="0">
                          <a:solidFill>
                            <a:schemeClr val="accent2">
                              <a:lumMod val="60000"/>
                              <a:lumOff val="40000"/>
                            </a:schemeClr>
                          </a:solidFill>
                        </a:rPr>
                        <a:t>Low priority</a:t>
                      </a:r>
                      <a:endParaRPr sz="2400" u="sng" strike="noStrike" cap="none" dirty="0">
                        <a:solidFill>
                          <a:schemeClr val="accent2">
                            <a:lumMod val="60000"/>
                            <a:lumOff val="40000"/>
                          </a:schemeClr>
                        </a:solidFill>
                      </a:endParaRPr>
                    </a:p>
                    <a:p>
                      <a:pPr marL="171450" indent="-171450" algn="l">
                        <a:buFont typeface="Arial" panose="020B0604020202020204" pitchFamily="34" charset="0"/>
                        <a:buChar char="•"/>
                      </a:pPr>
                      <a:r>
                        <a:rPr lang="en-US" sz="1200" dirty="0">
                          <a:solidFill>
                            <a:schemeClr val="accent2">
                              <a:lumMod val="60000"/>
                              <a:lumOff val="40000"/>
                            </a:schemeClr>
                          </a:solidFill>
                        </a:rPr>
                        <a:t>STD-007-CPP-Detect &amp; handle standard library errors</a:t>
                      </a:r>
                    </a:p>
                    <a:p>
                      <a:pPr marL="171450" indent="-171450" algn="l">
                        <a:buFont typeface="Arial" panose="020B0604020202020204" pitchFamily="34" charset="0"/>
                        <a:buChar char="•"/>
                      </a:pPr>
                      <a:r>
                        <a:rPr lang="en-US" sz="1200" dirty="0">
                          <a:solidFill>
                            <a:schemeClr val="accent2">
                              <a:lumMod val="60000"/>
                              <a:lumOff val="40000"/>
                            </a:schemeClr>
                          </a:solidFill>
                        </a:rPr>
                        <a:t>STD-008-CPP-Do not perform assignments in selection statements</a:t>
                      </a:r>
                    </a:p>
                    <a:p>
                      <a:pPr marL="171450" indent="-171450" algn="l">
                        <a:buFont typeface="Arial" panose="020B0604020202020204" pitchFamily="34" charset="0"/>
                        <a:buChar char="•"/>
                      </a:pPr>
                      <a:r>
                        <a:rPr lang="en-US" sz="1200" dirty="0">
                          <a:solidFill>
                            <a:schemeClr val="accent2">
                              <a:lumMod val="60000"/>
                              <a:lumOff val="40000"/>
                            </a:schemeClr>
                          </a:solidFill>
                        </a:rPr>
                        <a:t>CSP-004 – Keep It Simple</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12700" cap="flat" cmpd="sng" algn="ctr">
                      <a:solidFill>
                        <a:schemeClr val="tx1"/>
                      </a:solidFill>
                      <a:prstDash val="solid"/>
                      <a:round/>
                      <a:headEnd type="none" w="med" len="med"/>
                      <a:tailEnd type="none" w="med" len="med"/>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2400" u="sng" strike="noStrike" cap="none" dirty="0">
                          <a:solidFill>
                            <a:srgbClr val="00B050"/>
                          </a:solidFill>
                        </a:rPr>
                        <a:t>Unlikely</a:t>
                      </a:r>
                      <a:endParaRPr sz="2400" u="sng" strike="noStrike" cap="none" dirty="0">
                        <a:solidFill>
                          <a:srgbClr val="00B050"/>
                        </a:solidFill>
                      </a:endParaRP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rgbClr val="00B050"/>
                          </a:solidFill>
                        </a:rPr>
                        <a:t>None Identified. All threats were </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rgbClr val="00B050"/>
                          </a:solidFill>
                        </a:rPr>
                        <a:t>Assessed as either a medium</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rgbClr val="00B050"/>
                          </a:solidFill>
                        </a:rPr>
                        <a:t>Or high likelihood of occurring</a:t>
                      </a:r>
                    </a:p>
                    <a:p>
                      <a:pPr marL="0" marR="0" lvl="0" indent="0" algn="ctr" rtl="0">
                        <a:lnSpc>
                          <a:spcPct val="100000"/>
                        </a:lnSpc>
                        <a:spcBef>
                          <a:spcPts val="0"/>
                        </a:spcBef>
                        <a:spcAft>
                          <a:spcPts val="0"/>
                        </a:spcAft>
                        <a:buClr>
                          <a:srgbClr val="000000"/>
                        </a:buClr>
                        <a:buSzPts val="3600"/>
                        <a:buFont typeface="Arial"/>
                        <a:buNone/>
                      </a:pPr>
                      <a:r>
                        <a:rPr lang="en-US" sz="1200" u="none" strike="noStrike" cap="none" dirty="0">
                          <a:solidFill>
                            <a:srgbClr val="00B050"/>
                          </a:solidFill>
                        </a:rPr>
                        <a:t> if secure coding practices are not </a:t>
                      </a:r>
                      <a:endParaRPr sz="1200" u="none" strike="noStrike" cap="none" dirty="0">
                        <a:solidFill>
                          <a:srgbClr val="00B050"/>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30854" y="4876800"/>
            <a:ext cx="682175" cy="1008792"/>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4099"/>
    </mc:Choice>
    <mc:Fallback>
      <p:transition spd="slow" advTm="540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10 PRINCIPLES</a:t>
            </a:r>
            <a:endParaRPr dirty="0"/>
          </a:p>
        </p:txBody>
      </p:sp>
      <p:sp>
        <p:nvSpPr>
          <p:cNvPr id="168" name="Google Shape;168;p5"/>
          <p:cNvSpPr txBox="1">
            <a:spLocks noGrp="1"/>
          </p:cNvSpPr>
          <p:nvPr>
            <p:ph type="body" idx="1"/>
          </p:nvPr>
        </p:nvSpPr>
        <p:spPr>
          <a:xfrm>
            <a:off x="685800" y="2194561"/>
            <a:ext cx="10820400" cy="289995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Validate Input Data: </a:t>
            </a:r>
            <a:r>
              <a:rPr lang="en-US" dirty="0">
                <a:solidFill>
                  <a:schemeClr val="accent3">
                    <a:lumMod val="40000"/>
                    <a:lumOff val="60000"/>
                  </a:schemeClr>
                </a:solidFill>
              </a:rPr>
              <a:t>STR31-CPP, STR32-CPP, INT32-CPP</a:t>
            </a:r>
          </a:p>
          <a:p>
            <a:pPr marL="228600" lvl="0" indent="-228600" algn="l" rtl="0">
              <a:lnSpc>
                <a:spcPct val="90000"/>
              </a:lnSpc>
              <a:spcBef>
                <a:spcPts val="0"/>
              </a:spcBef>
              <a:spcAft>
                <a:spcPts val="0"/>
              </a:spcAft>
              <a:buClr>
                <a:schemeClr val="lt1"/>
              </a:buClr>
              <a:buSzPts val="2200"/>
              <a:buChar char="•"/>
            </a:pPr>
            <a:r>
              <a:rPr lang="en-US" dirty="0">
                <a:solidFill>
                  <a:srgbClr val="FFFFFF"/>
                </a:solidFill>
              </a:rPr>
              <a:t>Heed Compiler Warnings: </a:t>
            </a:r>
            <a:r>
              <a:rPr lang="en-US" dirty="0">
                <a:solidFill>
                  <a:schemeClr val="accent3">
                    <a:lumMod val="40000"/>
                    <a:lumOff val="60000"/>
                  </a:schemeClr>
                </a:solidFill>
              </a:rPr>
              <a:t>ERR33-CPP, MSC00-CPP</a:t>
            </a:r>
          </a:p>
          <a:p>
            <a:pPr marL="228600" lvl="0" indent="-228600" algn="l" rtl="0">
              <a:lnSpc>
                <a:spcPct val="90000"/>
              </a:lnSpc>
              <a:spcBef>
                <a:spcPts val="0"/>
              </a:spcBef>
              <a:spcAft>
                <a:spcPts val="0"/>
              </a:spcAft>
              <a:buClr>
                <a:schemeClr val="lt1"/>
              </a:buClr>
              <a:buSzPts val="2200"/>
              <a:buChar char="•"/>
            </a:pPr>
            <a:r>
              <a:rPr lang="en-US" dirty="0">
                <a:solidFill>
                  <a:srgbClr val="FFFFFF"/>
                </a:solidFill>
              </a:rPr>
              <a:t>Architect and Design for Security Policies: </a:t>
            </a:r>
            <a:r>
              <a:rPr lang="en-US" dirty="0">
                <a:solidFill>
                  <a:schemeClr val="accent3">
                    <a:lumMod val="40000"/>
                    <a:lumOff val="60000"/>
                  </a:schemeClr>
                </a:solidFill>
              </a:rPr>
              <a:t>MEM34-CPP</a:t>
            </a:r>
          </a:p>
          <a:p>
            <a:pPr marL="228600" lvl="0" indent="-228600" algn="l" rtl="0">
              <a:lnSpc>
                <a:spcPct val="90000"/>
              </a:lnSpc>
              <a:spcBef>
                <a:spcPts val="0"/>
              </a:spcBef>
              <a:spcAft>
                <a:spcPts val="0"/>
              </a:spcAft>
              <a:buClr>
                <a:schemeClr val="lt1"/>
              </a:buClr>
              <a:buSzPts val="2200"/>
              <a:buChar char="•"/>
            </a:pPr>
            <a:r>
              <a:rPr lang="en-US" dirty="0">
                <a:solidFill>
                  <a:srgbClr val="FFFFFF"/>
                </a:solidFill>
              </a:rPr>
              <a:t>Keep it Simple: </a:t>
            </a:r>
            <a:r>
              <a:rPr lang="en-US" dirty="0">
                <a:solidFill>
                  <a:schemeClr val="accent3">
                    <a:lumMod val="40000"/>
                    <a:lumOff val="60000"/>
                  </a:schemeClr>
                </a:solidFill>
              </a:rPr>
              <a:t>EXP50-CPP</a:t>
            </a:r>
          </a:p>
          <a:p>
            <a:pPr marL="228600" lvl="0" indent="-228600" algn="l" rtl="0">
              <a:lnSpc>
                <a:spcPct val="90000"/>
              </a:lnSpc>
              <a:spcBef>
                <a:spcPts val="0"/>
              </a:spcBef>
              <a:spcAft>
                <a:spcPts val="0"/>
              </a:spcAft>
              <a:buClr>
                <a:schemeClr val="lt1"/>
              </a:buClr>
              <a:buSzPts val="2200"/>
              <a:buChar char="•"/>
            </a:pPr>
            <a:r>
              <a:rPr lang="en-US" dirty="0"/>
              <a:t>Default Deny: </a:t>
            </a:r>
            <a:r>
              <a:rPr lang="en-US" dirty="0">
                <a:solidFill>
                  <a:schemeClr val="accent3">
                    <a:lumMod val="40000"/>
                    <a:lumOff val="60000"/>
                  </a:schemeClr>
                </a:solidFill>
              </a:rPr>
              <a:t>ERR33-CPP</a:t>
            </a:r>
          </a:p>
          <a:p>
            <a:pPr marL="228600" lvl="0" indent="-228600" algn="l" rtl="0">
              <a:lnSpc>
                <a:spcPct val="90000"/>
              </a:lnSpc>
              <a:spcBef>
                <a:spcPts val="0"/>
              </a:spcBef>
              <a:spcAft>
                <a:spcPts val="0"/>
              </a:spcAft>
              <a:buClr>
                <a:schemeClr val="lt1"/>
              </a:buClr>
              <a:buSzPts val="2200"/>
              <a:buChar char="•"/>
            </a:pPr>
            <a:r>
              <a:rPr lang="en-US" dirty="0"/>
              <a:t>Sanitize Data Sent to Other Systems: </a:t>
            </a:r>
            <a:r>
              <a:rPr lang="en-US" dirty="0">
                <a:solidFill>
                  <a:schemeClr val="accent3">
                    <a:lumMod val="40000"/>
                    <a:lumOff val="60000"/>
                  </a:schemeClr>
                </a:solidFill>
              </a:rPr>
              <a:t>STR02-CPP, STR31-CPP</a:t>
            </a:r>
          </a:p>
          <a:p>
            <a:pPr marL="228600" lvl="0" indent="-228600" algn="l" rtl="0">
              <a:lnSpc>
                <a:spcPct val="90000"/>
              </a:lnSpc>
              <a:spcBef>
                <a:spcPts val="0"/>
              </a:spcBef>
              <a:spcAft>
                <a:spcPts val="0"/>
              </a:spcAft>
              <a:buClr>
                <a:schemeClr val="lt1"/>
              </a:buClr>
              <a:buSzPts val="2200"/>
              <a:buChar char="•"/>
            </a:pPr>
            <a:r>
              <a:rPr lang="en-US" dirty="0"/>
              <a:t>Practice Defense in Depth: </a:t>
            </a:r>
            <a:r>
              <a:rPr lang="en-US" dirty="0">
                <a:solidFill>
                  <a:schemeClr val="accent3">
                    <a:lumMod val="40000"/>
                    <a:lumOff val="60000"/>
                  </a:schemeClr>
                </a:solidFill>
              </a:rPr>
              <a:t>MEM50-CPP, ARR30-CPP</a:t>
            </a:r>
          </a:p>
          <a:p>
            <a:pPr marL="228600" lvl="0" indent="-228600" algn="l" rtl="0">
              <a:lnSpc>
                <a:spcPct val="90000"/>
              </a:lnSpc>
              <a:spcBef>
                <a:spcPts val="0"/>
              </a:spcBef>
              <a:spcAft>
                <a:spcPts val="0"/>
              </a:spcAft>
              <a:buClr>
                <a:schemeClr val="lt1"/>
              </a:buClr>
              <a:buSzPts val="2200"/>
              <a:buChar char="•"/>
            </a:pPr>
            <a:r>
              <a:rPr lang="en-US" dirty="0"/>
              <a:t>Use Effective Quality Assurance Techniques: </a:t>
            </a:r>
            <a:r>
              <a:rPr lang="en-US" dirty="0">
                <a:solidFill>
                  <a:schemeClr val="accent3">
                    <a:lumMod val="40000"/>
                    <a:lumOff val="60000"/>
                  </a:schemeClr>
                </a:solidFill>
              </a:rPr>
              <a:t>MSC00-CPP</a:t>
            </a:r>
          </a:p>
          <a:p>
            <a:pPr marL="228600" lvl="0" indent="-228600" algn="l" rtl="0">
              <a:lnSpc>
                <a:spcPct val="90000"/>
              </a:lnSpc>
              <a:spcBef>
                <a:spcPts val="0"/>
              </a:spcBef>
              <a:spcAft>
                <a:spcPts val="0"/>
              </a:spcAft>
              <a:buClr>
                <a:schemeClr val="lt1"/>
              </a:buClr>
              <a:buSzPts val="2200"/>
              <a:buChar char="•"/>
            </a:pPr>
            <a:r>
              <a:rPr lang="en-US" dirty="0"/>
              <a:t>Adopt a Secure Coding Standard : </a:t>
            </a:r>
            <a:r>
              <a:rPr lang="en-US" dirty="0">
                <a:solidFill>
                  <a:schemeClr val="accent3">
                    <a:lumMod val="40000"/>
                    <a:lumOff val="60000"/>
                  </a:schemeClr>
                </a:solidFill>
              </a:rPr>
              <a:t>All CERT C++ coding standards</a:t>
            </a:r>
            <a:endParaRPr dirty="0">
              <a:solidFill>
                <a:schemeClr val="accent3">
                  <a:lumMod val="40000"/>
                  <a:lumOff val="60000"/>
                </a:schemeClr>
              </a:solidFill>
            </a:endParaRP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7891"/>
    </mc:Choice>
    <mc:Fallback>
      <p:transition spd="slow" advTm="3789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132051"/>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706974" y="1221532"/>
            <a:ext cx="10820400" cy="4422542"/>
          </a:xfrm>
          <a:prstGeom prst="rect">
            <a:avLst/>
          </a:prstGeom>
          <a:noFill/>
          <a:ln>
            <a:noFill/>
          </a:ln>
        </p:spPr>
        <p:txBody>
          <a:bodyPr spcFirstLastPara="1" wrap="square" lIns="91425" tIns="45700" rIns="91425" bIns="45700" anchor="t" anchorCtr="0">
            <a:normAutofit fontScale="77500" lnSpcReduction="20000"/>
          </a:bodyPr>
          <a:lstStyle/>
          <a:p>
            <a:pPr marL="0" lvl="0" indent="0">
              <a:spcBef>
                <a:spcPts val="0"/>
              </a:spcBef>
              <a:buSzPts val="2000"/>
              <a:buNone/>
            </a:pPr>
            <a:endParaRPr lang="en-US" sz="2000" dirty="0"/>
          </a:p>
          <a:p>
            <a:pPr marL="228600" lvl="0" indent="-228600">
              <a:spcBef>
                <a:spcPts val="0"/>
              </a:spcBef>
              <a:buSzPts val="2000"/>
            </a:pPr>
            <a:r>
              <a:rPr lang="en-US" sz="2000" dirty="0"/>
              <a:t>STD-002-CPP- Data Value: Can lead to memory corruption, buffer overflows and exploitable vulnerabilities</a:t>
            </a:r>
          </a:p>
          <a:p>
            <a:pPr marL="228600" lvl="0" indent="-228600">
              <a:spcBef>
                <a:spcPts val="0"/>
              </a:spcBef>
              <a:buSzPts val="2000"/>
            </a:pPr>
            <a:endParaRPr lang="en-US" sz="2000" dirty="0"/>
          </a:p>
          <a:p>
            <a:pPr marL="228600" lvl="0" indent="-228600">
              <a:spcBef>
                <a:spcPts val="0"/>
              </a:spcBef>
              <a:buSzPts val="2000"/>
            </a:pPr>
            <a:r>
              <a:rPr lang="en-US" sz="2000" dirty="0"/>
              <a:t>STD-003-CPP- String Correctness: Prevents common buffer overflow attacks from insufficient storage</a:t>
            </a:r>
          </a:p>
          <a:p>
            <a:pPr marL="228600" lvl="0" indent="-228600">
              <a:spcBef>
                <a:spcPts val="0"/>
              </a:spcBef>
              <a:buSzPts val="2000"/>
            </a:pPr>
            <a:endParaRPr lang="en-US" sz="2000" dirty="0"/>
          </a:p>
          <a:p>
            <a:pPr marL="228600" lvl="0" indent="-228600">
              <a:spcBef>
                <a:spcPts val="0"/>
              </a:spcBef>
              <a:buSzPts val="2000"/>
            </a:pPr>
            <a:r>
              <a:rPr lang="en-US" sz="2000" dirty="0"/>
              <a:t>STD-004-CPP- SQL Injection: Improper string handling can lead to malformed input and security risks.</a:t>
            </a:r>
          </a:p>
          <a:p>
            <a:pPr marL="228600" lvl="0" indent="-228600">
              <a:spcBef>
                <a:spcPts val="0"/>
              </a:spcBef>
              <a:buSzPts val="2000"/>
            </a:pPr>
            <a:endParaRPr lang="en-US" sz="2000" dirty="0"/>
          </a:p>
          <a:p>
            <a:pPr marL="228600" indent="-228600">
              <a:spcBef>
                <a:spcPts val="0"/>
              </a:spcBef>
              <a:buSzPts val="2000"/>
            </a:pPr>
            <a:r>
              <a:rPr lang="en-US" sz="2000" dirty="0"/>
              <a:t>STD-010-CPP- Memory Safety: Out of bounds array access can cause crashes or arbitrary code execution.</a:t>
            </a:r>
          </a:p>
          <a:p>
            <a:pPr marL="0" indent="0">
              <a:spcBef>
                <a:spcPts val="0"/>
              </a:spcBef>
              <a:buSzPts val="2000"/>
              <a:buNone/>
            </a:pPr>
            <a:endParaRPr lang="en-US" sz="2000" dirty="0"/>
          </a:p>
          <a:p>
            <a:pPr marL="228600" indent="-228600">
              <a:spcBef>
                <a:spcPts val="0"/>
              </a:spcBef>
              <a:buSzPts val="2000"/>
            </a:pPr>
            <a:r>
              <a:rPr lang="en-US" sz="2000" dirty="0"/>
              <a:t>STD-001-CPP- Data Type: Prevents undefined behavior  by protecting string literals</a:t>
            </a:r>
          </a:p>
          <a:p>
            <a:pPr marL="228600" indent="-228600">
              <a:spcBef>
                <a:spcPts val="0"/>
              </a:spcBef>
              <a:buSzPts val="2000"/>
            </a:pPr>
            <a:endParaRPr lang="en-US" sz="2000" dirty="0"/>
          </a:p>
          <a:p>
            <a:pPr marL="228600" lvl="0" indent="-228600">
              <a:spcBef>
                <a:spcPts val="0"/>
              </a:spcBef>
              <a:buSzPts val="2000"/>
            </a:pPr>
            <a:r>
              <a:rPr lang="en-US" sz="2000" dirty="0"/>
              <a:t>STD-005-CPP- Memory Protection: Prevents heap corruption from invalid memory deallocation.</a:t>
            </a:r>
          </a:p>
          <a:p>
            <a:pPr marL="0" lvl="0" indent="0">
              <a:spcBef>
                <a:spcPts val="0"/>
              </a:spcBef>
              <a:buSzPts val="2000"/>
              <a:buNone/>
            </a:pPr>
            <a:endParaRPr lang="en-US" sz="2000" dirty="0"/>
          </a:p>
          <a:p>
            <a:pPr marL="228600" lvl="0" indent="-228600">
              <a:spcBef>
                <a:spcPts val="0"/>
              </a:spcBef>
              <a:buSzPts val="2000"/>
            </a:pPr>
            <a:r>
              <a:rPr lang="en-US" sz="2000" dirty="0"/>
              <a:t>STD-006-CPP- Assertions: Prevents crashes and undefined behavior caused by null dereferences</a:t>
            </a:r>
          </a:p>
          <a:p>
            <a:pPr marL="0" lvl="0" indent="0">
              <a:spcBef>
                <a:spcPts val="0"/>
              </a:spcBef>
              <a:buSzPts val="2000"/>
              <a:buNone/>
            </a:pPr>
            <a:endParaRPr lang="en-US" sz="2000" dirty="0"/>
          </a:p>
          <a:p>
            <a:pPr marL="228600" indent="-228600">
              <a:spcBef>
                <a:spcPts val="0"/>
              </a:spcBef>
              <a:buSzPts val="2000"/>
            </a:pPr>
            <a:r>
              <a:rPr lang="en-US" sz="2000" dirty="0"/>
              <a:t>STD-009-CPP- Memory Management: Prevents memory leaks and enhances long term stability</a:t>
            </a:r>
          </a:p>
          <a:p>
            <a:pPr marL="228600" indent="-228600">
              <a:spcBef>
                <a:spcPts val="0"/>
              </a:spcBef>
              <a:buSzPts val="2000"/>
            </a:pPr>
            <a:endParaRPr lang="en-US" sz="2000" dirty="0"/>
          </a:p>
          <a:p>
            <a:pPr marL="228600" lvl="0" indent="-228600">
              <a:spcBef>
                <a:spcPts val="0"/>
              </a:spcBef>
              <a:buSzPts val="2000"/>
            </a:pPr>
            <a:r>
              <a:rPr lang="en-US" sz="2000" dirty="0"/>
              <a:t>STD-007-CPP- Exceptions: Improves robustness through proper error handling</a:t>
            </a:r>
          </a:p>
          <a:p>
            <a:pPr marL="0" lvl="0" indent="0">
              <a:spcBef>
                <a:spcPts val="0"/>
              </a:spcBef>
              <a:buSzPts val="2000"/>
              <a:buNone/>
            </a:pPr>
            <a:endParaRPr lang="en-US" sz="2000" dirty="0"/>
          </a:p>
          <a:p>
            <a:pPr marL="228600" lvl="0" indent="-228600">
              <a:spcBef>
                <a:spcPts val="0"/>
              </a:spcBef>
              <a:buSzPts val="2000"/>
            </a:pPr>
            <a:r>
              <a:rPr lang="en-US" sz="2000" dirty="0"/>
              <a:t>STD-008-CPP- Default Deny: Although important, this specific standard handles errors in conditional logic and statements. These are less likely to result in critical vulnerabilities seen with buffer overflow or memory corruption.</a:t>
            </a:r>
          </a:p>
          <a:p>
            <a:pPr marL="0" lvl="0" indent="0" algn="l" rtl="0">
              <a:lnSpc>
                <a:spcPct val="90000"/>
              </a:lnSpc>
              <a:spcBef>
                <a:spcPts val="0"/>
              </a:spcBef>
              <a:spcAft>
                <a:spcPts val="0"/>
              </a:spcAft>
              <a:buClr>
                <a:schemeClr val="lt1"/>
              </a:buClr>
              <a:buSzPts val="2000"/>
              <a:buNone/>
            </a:pP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9947"/>
    </mc:Choice>
    <mc:Fallback>
      <p:transition spd="slow" advTm="5994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1400" b="1" dirty="0"/>
              <a:t>Encryption at rest : </a:t>
            </a:r>
            <a:r>
              <a:rPr lang="en-US" sz="1400" dirty="0"/>
              <a:t>Green Pace shall encrypt all sensitive business and customer data using approved encryption algorithms while in storage. This applies to all production, testing, and backup environments when storing sensitive data. </a:t>
            </a:r>
            <a:r>
              <a:rPr lang="en-US" sz="1400" b="1" dirty="0"/>
              <a:t>Explanation:</a:t>
            </a:r>
            <a:r>
              <a:rPr lang="en-US" sz="1400" dirty="0"/>
              <a:t> Encryption at rest protects data in backups, file systems, and databases from unauthorized access if any software/hardware is compromised. This policy ensures information is protected from unauthorized access if any storage devices, software, or backups are compromised. </a:t>
            </a:r>
          </a:p>
          <a:p>
            <a:r>
              <a:rPr lang="en-US" sz="1400" b="1" dirty="0"/>
              <a:t>Encryption in Flight: </a:t>
            </a:r>
            <a:r>
              <a:rPr lang="en-US" sz="1400" dirty="0"/>
              <a:t>Green Pace shall require the use of secure communication protocols such as TLS 1.3 and HTTPS for all network communications involving sensitive data. Encryption in flight protects data in transmission between users, applications, databases, and external systems. Encryption in flight prevents attackers from intercepting or modifying data during transmission and reduces the risk of man-in-the-middle attacks. This policy applies whenever data is transmitted across internal or external networks.</a:t>
            </a:r>
          </a:p>
          <a:p>
            <a:r>
              <a:rPr lang="en-US" sz="1400" b="1" dirty="0"/>
              <a:t>Encryption in Use: </a:t>
            </a:r>
            <a:r>
              <a:rPr lang="en-US" sz="1400" dirty="0"/>
              <a:t>Green Pace shall implement memory protection controls, secure key management practices, and least-privilege access controls to minimize exposure of sensitive information while in use. Encryption keys shall never be hardcoded into applications and shall be stored in secure key management systems. Encryption in use protects sensitive information while it is being processed by applications and systems. This policy applies whenever sensitive information is loaded into memory or actively processed by an application.</a:t>
            </a:r>
          </a:p>
          <a:p>
            <a:endParaRPr lang="en-US" sz="1400" dirty="0"/>
          </a:p>
          <a:p>
            <a:endParaRPr lang="en-US" sz="1400" b="1" dirty="0"/>
          </a:p>
          <a:p>
            <a:endParaRPr lang="en-US" sz="1400" b="1" dirty="0"/>
          </a:p>
          <a:p>
            <a:pPr marL="0" lvl="0" indent="0">
              <a:buSzPts val="1600"/>
              <a:buNone/>
            </a:pP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0236"/>
    </mc:Choice>
    <mc:Fallback>
      <p:transition spd="slow" advTm="6023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754085" y="26824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576943" y="1317171"/>
            <a:ext cx="11393732" cy="5272580"/>
          </a:xfrm>
          <a:prstGeom prst="rect">
            <a:avLst/>
          </a:prstGeom>
          <a:noFill/>
          <a:ln>
            <a:noFill/>
          </a:ln>
        </p:spPr>
        <p:txBody>
          <a:bodyPr spcFirstLastPara="1" wrap="square" lIns="91425" tIns="45700" rIns="91425" bIns="45700" anchor="t" anchorCtr="0">
            <a:normAutofit/>
          </a:bodyPr>
          <a:lstStyle/>
          <a:p>
            <a:r>
              <a:rPr lang="en-US" sz="1600" b="1" dirty="0"/>
              <a:t>Authentication: </a:t>
            </a:r>
            <a:r>
              <a:rPr lang="en-US" sz="1600" dirty="0"/>
              <a:t>Green Pace shall require unique user accounts, strong password requirements, and multifactor authentication (MFA) for systems containing sensitive information. All user logins must be authenticated before access is granted. Authentication is the process of verifying the identity of a user before access to a system is granted. This policy helps ensure that only authorized individuals can access company resources and reduces the risk of unauthorized access.</a:t>
            </a:r>
          </a:p>
          <a:p>
            <a:r>
              <a:rPr lang="en-US" sz="1600" b="1" dirty="0"/>
              <a:t>Authorization: </a:t>
            </a:r>
            <a:r>
              <a:rPr lang="en-US" sz="1600" dirty="0"/>
              <a:t>Green Pace shall implement role-based access control (RBAC) and the Principle of Least Privilege to ensure users receive only the permissions necessary to perform their job functions. User levels of access shall be reviewed regularly, and the addition of new users must be approved and assigned appropriate permissions before access is granted. Authorization determines what actions an authenticated user is permitted to perform within a system. This policy helps reduce the risk of privilege abuse and unauthorized access to sensitive resources.</a:t>
            </a:r>
          </a:p>
          <a:p>
            <a:r>
              <a:rPr lang="en-US" sz="1600" b="1" dirty="0"/>
              <a:t>Accounting: </a:t>
            </a:r>
            <a:r>
              <a:rPr lang="en-US" sz="1700" dirty="0"/>
              <a:t>Green Pace shall maintain audit logs that record user logins, changes to databases, addition or removal of user accounts, access to sensitive files, and administrative actions. Logs shall be monitored regularly and retained according to company retention requirements. Accounting provides a record of user activity and system events for auditing and security monitoring purposes. This policy supports accountability, incident investigations, compliance requirements, and the detection of suspicious activity.</a:t>
            </a:r>
          </a:p>
          <a:p>
            <a:endParaRPr lang="en-US" sz="1700" b="1" dirty="0"/>
          </a:p>
          <a:p>
            <a:endParaRPr lang="en-US" sz="1600" b="1" dirty="0"/>
          </a:p>
          <a:p>
            <a:pPr marL="228600" lvl="0" indent="-228600" algn="l" rtl="0">
              <a:lnSpc>
                <a:spcPct val="90000"/>
              </a:lnSpc>
              <a:spcBef>
                <a:spcPts val="0"/>
              </a:spcBef>
              <a:spcAft>
                <a:spcPts val="0"/>
              </a:spcAft>
              <a:buClr>
                <a:schemeClr val="lt1"/>
              </a:buClr>
              <a:buSzPts val="2400"/>
              <a:buChar char="•"/>
            </a:pPr>
            <a:endParaRPr dirty="0"/>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5632"/>
    </mc:Choice>
    <mc:Fallback>
      <p:transition spd="slow" advTm="5563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445396"/>
            <a:ext cx="8610600" cy="1293000"/>
          </a:xfrm>
          <a:prstGeom prst="rect">
            <a:avLst/>
          </a:prstGeom>
          <a:noFill/>
          <a:ln>
            <a:noFill/>
          </a:ln>
        </p:spPr>
        <p:txBody>
          <a:bodyPr spcFirstLastPara="1" wrap="square" lIns="91425" tIns="45700" rIns="91425" bIns="45700" anchor="ctr" anchorCtr="0">
            <a:noAutofit/>
          </a:bodyPr>
          <a:lstStyle/>
          <a:p>
            <a:r>
              <a:rPr lang="en-US" dirty="0"/>
              <a:t>Unit Test 1:</a:t>
            </a:r>
            <a:br>
              <a:rPr lang="en-US" dirty="0"/>
            </a:br>
            <a:r>
              <a:rPr lang="en-US" sz="3200" b="1" dirty="0"/>
              <a:t>Does </a:t>
            </a:r>
            <a:r>
              <a:rPr lang="en-US" sz="3200" b="1" dirty="0" err="1"/>
              <a:t>ClearCollection</a:t>
            </a:r>
            <a:r>
              <a:rPr lang="en-US" sz="3200" b="1" dirty="0"/>
              <a:t>() remove all smart pointers from the collection?</a:t>
            </a:r>
            <a:br>
              <a:rPr lang="en-US" sz="3200" dirty="0"/>
            </a:br>
            <a:endParaRPr sz="3200" dirty="0"/>
          </a:p>
        </p:txBody>
      </p:sp>
      <p:sp>
        <p:nvSpPr>
          <p:cNvPr id="196" name="Google Shape;196;g9504e29505_0_0"/>
          <p:cNvSpPr txBox="1">
            <a:spLocks noGrp="1"/>
          </p:cNvSpPr>
          <p:nvPr>
            <p:ph type="body" idx="1"/>
          </p:nvPr>
        </p:nvSpPr>
        <p:spPr>
          <a:xfrm>
            <a:off x="0" y="1690577"/>
            <a:ext cx="5268883" cy="25518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800" dirty="0"/>
              <a:t>Expected Result: Collection is empty after </a:t>
            </a:r>
            <a:r>
              <a:rPr lang="en-US" sz="1800" dirty="0" err="1"/>
              <a:t>clearCollection</a:t>
            </a:r>
            <a:r>
              <a:rPr lang="en-US" sz="1800" dirty="0"/>
              <a:t>()</a:t>
            </a:r>
          </a:p>
          <a:p>
            <a:pPr marL="0" lvl="0" indent="0" algn="l" rtl="0">
              <a:lnSpc>
                <a:spcPct val="90000"/>
              </a:lnSpc>
              <a:spcBef>
                <a:spcPts val="1000"/>
              </a:spcBef>
              <a:spcAft>
                <a:spcPts val="0"/>
              </a:spcAft>
              <a:buSzPts val="1800"/>
              <a:buNone/>
            </a:pPr>
            <a:r>
              <a:rPr lang="en-US" sz="1800" dirty="0"/>
              <a:t>Actual Result: Passed</a:t>
            </a:r>
          </a:p>
          <a:p>
            <a:pPr marL="0" lvl="0" indent="0" algn="ctr" rtl="0">
              <a:lnSpc>
                <a:spcPct val="90000"/>
              </a:lnSpc>
              <a:spcBef>
                <a:spcPts val="1000"/>
              </a:spcBef>
              <a:spcAft>
                <a:spcPts val="0"/>
              </a:spcAft>
              <a:buSzPts val="1800"/>
              <a:buNone/>
            </a:pPr>
            <a:r>
              <a:rPr lang="en-US" sz="1800" b="1" dirty="0"/>
              <a:t>Test Descriptions</a:t>
            </a:r>
          </a:p>
          <a:p>
            <a:r>
              <a:rPr lang="en-US" sz="1800" dirty="0"/>
              <a:t>Test #1: Positive tests prove that functionality works when tested. For example, Test(1+1) = 2.</a:t>
            </a:r>
          </a:p>
          <a:p>
            <a:r>
              <a:rPr lang="en-US" sz="1800" dirty="0"/>
              <a:t>Test # 2: Negative tests prove that an error or exception happens when provided bad data. For example, Test(5/0) =&gt; Divide By Zero.</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5" name="Picture 4">
            <a:extLst>
              <a:ext uri="{FF2B5EF4-FFF2-40B4-BE49-F238E27FC236}">
                <a16:creationId xmlns:a16="http://schemas.microsoft.com/office/drawing/2014/main" id="{6300198F-9B63-A926-97C5-377AF589EAA6}"/>
              </a:ext>
            </a:extLst>
          </p:cNvPr>
          <p:cNvPicPr>
            <a:picLocks noChangeAspect="1"/>
          </p:cNvPicPr>
          <p:nvPr/>
        </p:nvPicPr>
        <p:blipFill rotWithShape="1">
          <a:blip r:embed="rId5">
            <a:extLst>
              <a:ext uri="{28A0092B-C50C-407E-A947-70E740481C1C}">
                <a14:useLocalDpi xmlns:a14="http://schemas.microsoft.com/office/drawing/2010/main" val="0"/>
              </a:ext>
            </a:extLst>
          </a:blip>
          <a:srcRect l="-1577" t="8448" r="1577" b="-8448"/>
          <a:stretch>
            <a:fillRect/>
          </a:stretch>
        </p:blipFill>
        <p:spPr bwMode="auto">
          <a:xfrm>
            <a:off x="5459383" y="1690577"/>
            <a:ext cx="5410200" cy="5494550"/>
          </a:xfrm>
          <a:prstGeom prst="rect">
            <a:avLst/>
          </a:prstGeom>
          <a:ln>
            <a:noFill/>
          </a:ln>
          <a:extLst>
            <a:ext uri="{53640926-AAD7-44D8-BBD7-CCE9431645EC}">
              <a14:shadowObscured xmlns:a14="http://schemas.microsoft.com/office/drawing/2010/main"/>
            </a:ext>
          </a:extLst>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80616"/>
    </mc:Choice>
    <mc:Fallback>
      <p:transition spd="slow" advTm="8061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C881766D-3BE9-B313-4454-DED2DE31E3D3}"/>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188E4A8D-DADF-5381-8E4A-8721E2502B0A}"/>
              </a:ext>
            </a:extLst>
          </p:cNvPr>
          <p:cNvSpPr txBox="1">
            <a:spLocks noGrp="1"/>
          </p:cNvSpPr>
          <p:nvPr>
            <p:ph type="title"/>
          </p:nvPr>
        </p:nvSpPr>
        <p:spPr>
          <a:xfrm>
            <a:off x="2916774" y="268249"/>
            <a:ext cx="8610600" cy="1293000"/>
          </a:xfrm>
          <a:prstGeom prst="rect">
            <a:avLst/>
          </a:prstGeom>
          <a:noFill/>
          <a:ln>
            <a:noFill/>
          </a:ln>
        </p:spPr>
        <p:txBody>
          <a:bodyPr spcFirstLastPara="1" wrap="square" lIns="91425" tIns="45700" rIns="91425" bIns="45700" anchor="ctr" anchorCtr="0">
            <a:noAutofit/>
          </a:bodyPr>
          <a:lstStyle/>
          <a:p>
            <a:r>
              <a:rPr lang="en-US" dirty="0"/>
              <a:t>Unit Test 2:</a:t>
            </a:r>
            <a:br>
              <a:rPr lang="en-US" dirty="0"/>
            </a:br>
            <a:r>
              <a:rPr lang="en-US" sz="3200" b="1" dirty="0"/>
              <a:t>How do I modify the </a:t>
            </a:r>
            <a:r>
              <a:rPr lang="en-US" sz="3200" b="1" dirty="0" err="1"/>
              <a:t>run_query</a:t>
            </a:r>
            <a:r>
              <a:rPr lang="en-US" sz="3200" b="1" dirty="0"/>
              <a:t> function to detect a potential SQL Injection attack?</a:t>
            </a:r>
            <a:endParaRPr sz="3200" dirty="0"/>
          </a:p>
        </p:txBody>
      </p:sp>
      <p:sp>
        <p:nvSpPr>
          <p:cNvPr id="196" name="Google Shape;196;g9504e29505_0_0">
            <a:extLst>
              <a:ext uri="{FF2B5EF4-FFF2-40B4-BE49-F238E27FC236}">
                <a16:creationId xmlns:a16="http://schemas.microsoft.com/office/drawing/2014/main" id="{BD5DF2D4-7495-F7DA-1501-8A2AFDAB949B}"/>
              </a:ext>
            </a:extLst>
          </p:cNvPr>
          <p:cNvSpPr txBox="1">
            <a:spLocks noGrp="1"/>
          </p:cNvSpPr>
          <p:nvPr>
            <p:ph type="body" idx="1"/>
          </p:nvPr>
        </p:nvSpPr>
        <p:spPr>
          <a:xfrm>
            <a:off x="0" y="1690577"/>
            <a:ext cx="5268883" cy="255181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rPr lang="en-US" sz="1800" dirty="0"/>
              <a:t>Expected Result: SQL Injection detected in Query</a:t>
            </a:r>
          </a:p>
          <a:p>
            <a:pPr marL="0" lvl="0" indent="0" algn="l" rtl="0">
              <a:lnSpc>
                <a:spcPct val="90000"/>
              </a:lnSpc>
              <a:spcBef>
                <a:spcPts val="1000"/>
              </a:spcBef>
              <a:spcAft>
                <a:spcPts val="0"/>
              </a:spcAft>
              <a:buSzPts val="1800"/>
              <a:buNone/>
            </a:pPr>
            <a:r>
              <a:rPr lang="en-US" sz="1800" dirty="0"/>
              <a:t>Actual Result: Passed</a:t>
            </a:r>
          </a:p>
          <a:p>
            <a:pPr marL="0" lvl="0" indent="0" algn="ctr" rtl="0">
              <a:lnSpc>
                <a:spcPct val="90000"/>
              </a:lnSpc>
              <a:spcBef>
                <a:spcPts val="1000"/>
              </a:spcBef>
              <a:spcAft>
                <a:spcPts val="0"/>
              </a:spcAft>
              <a:buSzPts val="1800"/>
              <a:buNone/>
            </a:pPr>
            <a:r>
              <a:rPr lang="en-US" sz="1800" b="1" dirty="0"/>
              <a:t>Test Description</a:t>
            </a:r>
          </a:p>
          <a:p>
            <a:r>
              <a:rPr lang="en-US" sz="1800" dirty="0"/>
              <a:t>Implement a Regex pattern that detects common SQL injection expressions before the query executes.</a:t>
            </a:r>
          </a:p>
          <a:p>
            <a:r>
              <a:rPr lang="en-US" sz="1800" dirty="0"/>
              <a:t>The Regex pattern searches for suspicious AND/OR conditions commonly used in SQL injection attacks, such as OR 1=1, OR 'a'='a', and OR 2=2. Once a potential injection pattern is detected, the program prevents the query from executing by returning false before the sqlite3_exec() function is called.</a:t>
            </a:r>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410D1B15-0EB7-0BA7-CBF3-A8F485DCF0AB}"/>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screenshot of a computer&#10;&#10;AI-generated content may be incorrect.">
            <a:extLst>
              <a:ext uri="{FF2B5EF4-FFF2-40B4-BE49-F238E27FC236}">
                <a16:creationId xmlns:a16="http://schemas.microsoft.com/office/drawing/2014/main" id="{D72887DF-669F-151F-1633-30CC6E1F18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9091" y="2300282"/>
            <a:ext cx="6291584" cy="3140244"/>
          </a:xfrm>
          <a:prstGeom prst="rect">
            <a:avLst/>
          </a:prstGeom>
        </p:spPr>
      </p:pic>
    </p:spTree>
    <p:custDataLst>
      <p:tags r:id="rId1"/>
    </p:custDataLst>
    <p:extLst>
      <p:ext uri="{BB962C8B-B14F-4D97-AF65-F5344CB8AC3E}">
        <p14:creationId xmlns:p14="http://schemas.microsoft.com/office/powerpoint/2010/main" val="1072505663"/>
      </p:ext>
    </p:extLst>
  </p:cSld>
  <p:clrMapOvr>
    <a:masterClrMapping/>
  </p:clrMapOvr>
  <mc:AlternateContent xmlns:mc="http://schemas.openxmlformats.org/markup-compatibility/2006">
    <mc:Choice xmlns:p14="http://schemas.microsoft.com/office/powerpoint/2010/main" Requires="p14">
      <p:transition spd="slow" p14:dur="2000" advTm="74454"/>
    </mc:Choice>
    <mc:Fallback>
      <p:transition spd="slow" advTm="7445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940D8178-F7BD-6ECD-68F8-C9227BDCC4B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51ECEA7-C51F-C05F-F0AA-52AE7E47FFD9}"/>
              </a:ext>
            </a:extLst>
          </p:cNvPr>
          <p:cNvSpPr txBox="1">
            <a:spLocks noGrp="1"/>
          </p:cNvSpPr>
          <p:nvPr>
            <p:ph type="title"/>
          </p:nvPr>
        </p:nvSpPr>
        <p:spPr>
          <a:xfrm>
            <a:off x="2916774" y="524040"/>
            <a:ext cx="8610600" cy="1293000"/>
          </a:xfrm>
          <a:prstGeom prst="rect">
            <a:avLst/>
          </a:prstGeom>
          <a:noFill/>
          <a:ln>
            <a:noFill/>
          </a:ln>
        </p:spPr>
        <p:txBody>
          <a:bodyPr spcFirstLastPara="1" wrap="square" lIns="91425" tIns="45700" rIns="91425" bIns="45700" anchor="ctr" anchorCtr="0">
            <a:noAutofit/>
          </a:bodyPr>
          <a:lstStyle/>
          <a:p>
            <a:r>
              <a:rPr lang="en-US" dirty="0"/>
              <a:t>Unit Test 3:</a:t>
            </a:r>
            <a:br>
              <a:rPr lang="en-US" dirty="0"/>
            </a:br>
            <a:r>
              <a:rPr lang="en-US" sz="3200" b="1" dirty="0"/>
              <a:t>How do I detect and prevent numeric overflow or underflow when adding numbers?</a:t>
            </a:r>
            <a:endParaRPr sz="3200" dirty="0"/>
          </a:p>
        </p:txBody>
      </p:sp>
      <p:sp>
        <p:nvSpPr>
          <p:cNvPr id="196" name="Google Shape;196;g9504e29505_0_0">
            <a:extLst>
              <a:ext uri="{FF2B5EF4-FFF2-40B4-BE49-F238E27FC236}">
                <a16:creationId xmlns:a16="http://schemas.microsoft.com/office/drawing/2014/main" id="{7F1ACD22-2DE1-3EF8-1AAA-4C31B157F88C}"/>
              </a:ext>
            </a:extLst>
          </p:cNvPr>
          <p:cNvSpPr txBox="1">
            <a:spLocks noGrp="1"/>
          </p:cNvSpPr>
          <p:nvPr>
            <p:ph type="body" idx="1"/>
          </p:nvPr>
        </p:nvSpPr>
        <p:spPr>
          <a:xfrm>
            <a:off x="-74428" y="1695893"/>
            <a:ext cx="5268883" cy="2551813"/>
          </a:xfrm>
          <a:prstGeom prst="rect">
            <a:avLst/>
          </a:prstGeom>
          <a:noFill/>
          <a:ln>
            <a:noFill/>
          </a:ln>
        </p:spPr>
        <p:txBody>
          <a:bodyPr spcFirstLastPara="1" wrap="square" lIns="91425" tIns="45700" rIns="91425" bIns="45700" anchor="t" anchorCtr="0">
            <a:noAutofit/>
          </a:bodyPr>
          <a:lstStyle/>
          <a:p>
            <a:pPr marL="457200" lvl="1" indent="0">
              <a:spcBef>
                <a:spcPts val="1000"/>
              </a:spcBef>
              <a:buNone/>
            </a:pPr>
            <a:r>
              <a:rPr lang="en-US" sz="1600" b="1" dirty="0"/>
              <a:t>Expected Result: </a:t>
            </a:r>
            <a:r>
              <a:rPr lang="en-US" sz="1600" dirty="0"/>
              <a:t>adding numbers without overflow prevented and numbers with overflow detected</a:t>
            </a:r>
          </a:p>
          <a:p>
            <a:pPr marL="457200" lvl="1" indent="0">
              <a:spcBef>
                <a:spcPts val="1000"/>
              </a:spcBef>
              <a:buNone/>
            </a:pPr>
            <a:r>
              <a:rPr lang="en-US" sz="1600" b="1" dirty="0"/>
              <a:t>Actual Result: Passed - </a:t>
            </a:r>
            <a:r>
              <a:rPr lang="en-US" sz="1600" dirty="0"/>
              <a:t>Without Overflow : False</a:t>
            </a:r>
          </a:p>
          <a:p>
            <a:pPr marL="457200" lvl="1" indent="0">
              <a:spcBef>
                <a:spcPts val="1000"/>
              </a:spcBef>
              <a:buNone/>
            </a:pPr>
            <a:r>
              <a:rPr lang="en-US" sz="1600" dirty="0"/>
              <a:t>With Overflow: true</a:t>
            </a:r>
          </a:p>
          <a:p>
            <a:pPr marL="0" lvl="0" indent="0" algn="l" rtl="0">
              <a:lnSpc>
                <a:spcPct val="90000"/>
              </a:lnSpc>
              <a:spcBef>
                <a:spcPts val="1000"/>
              </a:spcBef>
              <a:spcAft>
                <a:spcPts val="0"/>
              </a:spcAft>
              <a:buSzPts val="1800"/>
              <a:buNone/>
            </a:pPr>
            <a:endParaRPr lang="en-US" sz="1800" dirty="0"/>
          </a:p>
          <a:p>
            <a:pPr marL="0" lvl="0" indent="0" algn="ctr" rtl="0">
              <a:lnSpc>
                <a:spcPct val="90000"/>
              </a:lnSpc>
              <a:spcBef>
                <a:spcPts val="1000"/>
              </a:spcBef>
              <a:spcAft>
                <a:spcPts val="0"/>
              </a:spcAft>
              <a:buSzPts val="1800"/>
              <a:buNone/>
            </a:pPr>
            <a:r>
              <a:rPr lang="en-US" sz="1800" b="1" dirty="0"/>
              <a:t>Test Description</a:t>
            </a:r>
          </a:p>
          <a:p>
            <a:pPr marL="457200" lvl="1" indent="0">
              <a:buNone/>
            </a:pPr>
            <a:r>
              <a:rPr lang="en-US" sz="1400" dirty="0"/>
              <a:t> The numeric functions that will check for overflow or underflow before performing each addition or subtraction. </a:t>
            </a:r>
          </a:p>
          <a:p>
            <a:pPr marL="457200" lvl="1" indent="0">
              <a:buNone/>
            </a:pPr>
            <a:r>
              <a:rPr lang="en-US" sz="1400" dirty="0"/>
              <a:t> For adding numbers, the program compares the   current result to std::numeric_limits&lt;T&gt;::max() – Increment`; for subtraction and then compares the current result to std::numeric_limits&lt;T&gt;::lowest() + decrement`. If the next operation goes outside of the valid range for that data type, the function sets a Boolean flag, stops the calculation, and returns the last safe result.</a:t>
            </a:r>
          </a:p>
          <a:p>
            <a:pPr marL="0" lvl="0" indent="0" algn="ctr" rtl="0">
              <a:lnSpc>
                <a:spcPct val="90000"/>
              </a:lnSpc>
              <a:spcBef>
                <a:spcPts val="1000"/>
              </a:spcBef>
              <a:spcAft>
                <a:spcPts val="0"/>
              </a:spcAft>
              <a:buSzPts val="1800"/>
              <a:buNone/>
            </a:pPr>
            <a:endParaRPr lang="en-US" sz="1600" b="1" dirty="0"/>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A62CC411-7A8D-C586-8DDF-F2520CD3BAF5}"/>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DA64F343-02E5-3429-8269-7484D3CBD067}"/>
              </a:ext>
            </a:extLst>
          </p:cNvPr>
          <p:cNvSpPr txBox="1"/>
          <p:nvPr/>
        </p:nvSpPr>
        <p:spPr>
          <a:xfrm>
            <a:off x="7795994" y="2504528"/>
            <a:ext cx="3288080" cy="338554"/>
          </a:xfrm>
          <a:prstGeom prst="rect">
            <a:avLst/>
          </a:prstGeom>
          <a:noFill/>
        </p:spPr>
        <p:txBody>
          <a:bodyPr wrap="none" rtlCol="0">
            <a:spAutoFit/>
          </a:bodyPr>
          <a:lstStyle/>
          <a:p>
            <a:r>
              <a:rPr lang="en-US" sz="1600" dirty="0">
                <a:solidFill>
                  <a:schemeClr val="bg1"/>
                </a:solidFill>
              </a:rPr>
              <a:t>Screenshot of output on next slide</a:t>
            </a:r>
          </a:p>
        </p:txBody>
      </p:sp>
      <p:pic>
        <p:nvPicPr>
          <p:cNvPr id="8" name="Graphic 7" descr="Arrow Right with solid fill">
            <a:extLst>
              <a:ext uri="{FF2B5EF4-FFF2-40B4-BE49-F238E27FC236}">
                <a16:creationId xmlns:a16="http://schemas.microsoft.com/office/drawing/2014/main" id="{5DCE5714-8200-C6C7-3130-46434E4B22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10" name="Graphic 9" descr="Arrow Right with solid fill">
            <a:extLst>
              <a:ext uri="{FF2B5EF4-FFF2-40B4-BE49-F238E27FC236}">
                <a16:creationId xmlns:a16="http://schemas.microsoft.com/office/drawing/2014/main" id="{23D14737-7267-35C5-41F3-600D8E013A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56275" y="2216605"/>
            <a:ext cx="914400" cy="914400"/>
          </a:xfrm>
          <a:prstGeom prst="rect">
            <a:avLst/>
          </a:prstGeom>
        </p:spPr>
      </p:pic>
    </p:spTree>
    <p:custDataLst>
      <p:tags r:id="rId1"/>
    </p:custDataLst>
    <p:extLst>
      <p:ext uri="{BB962C8B-B14F-4D97-AF65-F5344CB8AC3E}">
        <p14:creationId xmlns:p14="http://schemas.microsoft.com/office/powerpoint/2010/main" val="2789141780"/>
      </p:ext>
    </p:extLst>
  </p:cSld>
  <p:clrMapOvr>
    <a:masterClrMapping/>
  </p:clrMapOvr>
  <mc:AlternateContent xmlns:mc="http://schemas.openxmlformats.org/markup-compatibility/2006">
    <mc:Choice xmlns:p14="http://schemas.microsoft.com/office/powerpoint/2010/main" Requires="p14">
      <p:transition spd="slow" p14:dur="2000" advTm="62956"/>
    </mc:Choice>
    <mc:Fallback>
      <p:transition spd="slow" advTm="6295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5C5F493-ADD7-9B88-120A-20B4F75939F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1E89580-2842-4467-A9C9-699F178324CB}"/>
              </a:ext>
            </a:extLst>
          </p:cNvPr>
          <p:cNvSpPr txBox="1">
            <a:spLocks noGrp="1"/>
          </p:cNvSpPr>
          <p:nvPr>
            <p:ph type="title"/>
          </p:nvPr>
        </p:nvSpPr>
        <p:spPr>
          <a:xfrm>
            <a:off x="2916774" y="181763"/>
            <a:ext cx="8610600" cy="1293000"/>
          </a:xfrm>
          <a:prstGeom prst="rect">
            <a:avLst/>
          </a:prstGeom>
          <a:noFill/>
          <a:ln>
            <a:noFill/>
          </a:ln>
        </p:spPr>
        <p:txBody>
          <a:bodyPr spcFirstLastPara="1" wrap="square" lIns="91425" tIns="45700" rIns="91425" bIns="45700" anchor="ctr" anchorCtr="0">
            <a:noAutofit/>
          </a:bodyPr>
          <a:lstStyle/>
          <a:p>
            <a:r>
              <a:rPr lang="en-US" dirty="0"/>
              <a:t>Unit Test 3:</a:t>
            </a:r>
            <a:br>
              <a:rPr lang="en-US" dirty="0"/>
            </a:br>
            <a:r>
              <a:rPr lang="en-US" sz="3200" b="1" dirty="0"/>
              <a:t>Screenshot</a:t>
            </a:r>
            <a:endParaRPr sz="3200" dirty="0"/>
          </a:p>
        </p:txBody>
      </p:sp>
      <p:pic>
        <p:nvPicPr>
          <p:cNvPr id="197" name="Google Shape;197;g9504e29505_0_0" descr="Green Pace logo">
            <a:extLst>
              <a:ext uri="{FF2B5EF4-FFF2-40B4-BE49-F238E27FC236}">
                <a16:creationId xmlns:a16="http://schemas.microsoft.com/office/drawing/2014/main" id="{9EF722B8-630D-6C01-0088-FF993C27A23D}"/>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8" name="Graphic 7" descr="Arrow Right with solid fill">
            <a:extLst>
              <a:ext uri="{FF2B5EF4-FFF2-40B4-BE49-F238E27FC236}">
                <a16:creationId xmlns:a16="http://schemas.microsoft.com/office/drawing/2014/main" id="{07B3C81C-96AC-8BDF-180F-67B22C50FB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3" name="Picture 2">
            <a:extLst>
              <a:ext uri="{FF2B5EF4-FFF2-40B4-BE49-F238E27FC236}">
                <a16:creationId xmlns:a16="http://schemas.microsoft.com/office/drawing/2014/main" id="{9B3FA87F-49D9-7A62-3DDA-192757A6674D}"/>
              </a:ext>
            </a:extLst>
          </p:cNvPr>
          <p:cNvPicPr>
            <a:picLocks noChangeAspect="1"/>
          </p:cNvPicPr>
          <p:nvPr/>
        </p:nvPicPr>
        <p:blipFill>
          <a:blip r:embed="rId6"/>
          <a:stretch>
            <a:fillRect/>
          </a:stretch>
        </p:blipFill>
        <p:spPr>
          <a:xfrm>
            <a:off x="221325" y="1434804"/>
            <a:ext cx="8965609" cy="5241433"/>
          </a:xfrm>
          <a:prstGeom prst="rect">
            <a:avLst/>
          </a:prstGeom>
        </p:spPr>
      </p:pic>
    </p:spTree>
    <p:custDataLst>
      <p:tags r:id="rId1"/>
    </p:custDataLst>
    <p:extLst>
      <p:ext uri="{BB962C8B-B14F-4D97-AF65-F5344CB8AC3E}">
        <p14:creationId xmlns:p14="http://schemas.microsoft.com/office/powerpoint/2010/main" val="3941012632"/>
      </p:ext>
    </p:extLst>
  </p:cSld>
  <p:clrMapOvr>
    <a:masterClrMapping/>
  </p:clrMapOvr>
  <mc:AlternateContent xmlns:mc="http://schemas.openxmlformats.org/markup-compatibility/2006">
    <mc:Choice xmlns:p14="http://schemas.microsoft.com/office/powerpoint/2010/main" Requires="p14">
      <p:transition spd="slow" p14:dur="2000" advTm="21209"/>
    </mc:Choice>
    <mc:Fallback>
      <p:transition spd="slow" advTm="2120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7BED1C5F-F3B4-541E-83DF-B824B2F295F4}"/>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4CCDD32-A571-AA19-C79B-DD7A9B231DE4}"/>
              </a:ext>
            </a:extLst>
          </p:cNvPr>
          <p:cNvSpPr txBox="1">
            <a:spLocks noGrp="1"/>
          </p:cNvSpPr>
          <p:nvPr>
            <p:ph type="title"/>
          </p:nvPr>
        </p:nvSpPr>
        <p:spPr>
          <a:xfrm>
            <a:off x="3253749" y="415345"/>
            <a:ext cx="8610600" cy="1293000"/>
          </a:xfrm>
          <a:prstGeom prst="rect">
            <a:avLst/>
          </a:prstGeom>
          <a:noFill/>
          <a:ln>
            <a:noFill/>
          </a:ln>
        </p:spPr>
        <p:txBody>
          <a:bodyPr spcFirstLastPara="1" wrap="square" lIns="91425" tIns="45700" rIns="91425" bIns="45700" anchor="ctr" anchorCtr="0">
            <a:noAutofit/>
          </a:bodyPr>
          <a:lstStyle/>
          <a:p>
            <a:r>
              <a:rPr lang="en-US" dirty="0"/>
              <a:t>Unit Test 4:</a:t>
            </a:r>
            <a:br>
              <a:rPr lang="en-US" dirty="0"/>
            </a:br>
            <a:r>
              <a:rPr lang="en-US" sz="3200" b="1" dirty="0"/>
              <a:t>How do I detect and prevent numeric without underflow and with underflow when subtracting numbers?</a:t>
            </a:r>
            <a:endParaRPr sz="3200" dirty="0"/>
          </a:p>
        </p:txBody>
      </p:sp>
      <p:sp>
        <p:nvSpPr>
          <p:cNvPr id="196" name="Google Shape;196;g9504e29505_0_0">
            <a:extLst>
              <a:ext uri="{FF2B5EF4-FFF2-40B4-BE49-F238E27FC236}">
                <a16:creationId xmlns:a16="http://schemas.microsoft.com/office/drawing/2014/main" id="{F499978E-D1DC-4317-A46C-1D784860CCE2}"/>
              </a:ext>
            </a:extLst>
          </p:cNvPr>
          <p:cNvSpPr txBox="1">
            <a:spLocks noGrp="1"/>
          </p:cNvSpPr>
          <p:nvPr>
            <p:ph type="body" idx="1"/>
          </p:nvPr>
        </p:nvSpPr>
        <p:spPr>
          <a:xfrm>
            <a:off x="74428" y="1567175"/>
            <a:ext cx="5847907" cy="2717745"/>
          </a:xfrm>
          <a:prstGeom prst="rect">
            <a:avLst/>
          </a:prstGeom>
          <a:noFill/>
          <a:ln>
            <a:noFill/>
          </a:ln>
        </p:spPr>
        <p:txBody>
          <a:bodyPr spcFirstLastPara="1" wrap="square" lIns="91425" tIns="45700" rIns="91425" bIns="45700" anchor="t" anchorCtr="0">
            <a:noAutofit/>
          </a:bodyPr>
          <a:lstStyle/>
          <a:p>
            <a:pPr marL="457200" lvl="1" indent="0">
              <a:spcBef>
                <a:spcPts val="1000"/>
              </a:spcBef>
              <a:buNone/>
            </a:pPr>
            <a:r>
              <a:rPr lang="en-US" sz="1600" b="1" dirty="0"/>
              <a:t>Expected Result: </a:t>
            </a:r>
            <a:r>
              <a:rPr lang="en-US" sz="1600" dirty="0"/>
              <a:t>subtracting numbers without underflow prevented and numbers with underflow detected with Result</a:t>
            </a:r>
          </a:p>
          <a:p>
            <a:pPr marL="457200" lvl="1" indent="0">
              <a:spcBef>
                <a:spcPts val="1000"/>
              </a:spcBef>
              <a:buNone/>
            </a:pPr>
            <a:r>
              <a:rPr lang="en-US" sz="1600" b="1" dirty="0"/>
              <a:t>Actual Result: Passed - </a:t>
            </a:r>
            <a:r>
              <a:rPr lang="en-US" sz="1600" dirty="0"/>
              <a:t>Without underflow : False </a:t>
            </a:r>
          </a:p>
          <a:p>
            <a:pPr marL="457200" lvl="1" indent="0">
              <a:spcBef>
                <a:spcPts val="1000"/>
              </a:spcBef>
              <a:buNone/>
            </a:pPr>
            <a:r>
              <a:rPr lang="en-US" sz="1600" dirty="0"/>
              <a:t>Result: ####</a:t>
            </a:r>
          </a:p>
          <a:p>
            <a:pPr marL="457200" lvl="1" indent="0">
              <a:spcBef>
                <a:spcPts val="1000"/>
              </a:spcBef>
              <a:buNone/>
            </a:pPr>
            <a:r>
              <a:rPr lang="en-US" sz="1600" dirty="0"/>
              <a:t>With underflow: true </a:t>
            </a:r>
          </a:p>
          <a:p>
            <a:pPr marL="457200" lvl="1" indent="0">
              <a:spcBef>
                <a:spcPts val="1000"/>
              </a:spcBef>
              <a:buNone/>
            </a:pPr>
            <a:r>
              <a:rPr lang="en-US" sz="1600" dirty="0"/>
              <a:t>Result: #####</a:t>
            </a:r>
          </a:p>
          <a:p>
            <a:pPr marL="0" lvl="0" indent="0" algn="l" rtl="0">
              <a:lnSpc>
                <a:spcPct val="90000"/>
              </a:lnSpc>
              <a:spcBef>
                <a:spcPts val="1000"/>
              </a:spcBef>
              <a:spcAft>
                <a:spcPts val="0"/>
              </a:spcAft>
              <a:buSzPts val="1800"/>
              <a:buNone/>
            </a:pPr>
            <a:endParaRPr lang="en-US" sz="1800" dirty="0"/>
          </a:p>
          <a:p>
            <a:pPr marL="0" lvl="0" indent="0" algn="ctr" rtl="0">
              <a:lnSpc>
                <a:spcPct val="90000"/>
              </a:lnSpc>
              <a:spcBef>
                <a:spcPts val="1000"/>
              </a:spcBef>
              <a:spcAft>
                <a:spcPts val="0"/>
              </a:spcAft>
              <a:buSzPts val="1800"/>
              <a:buNone/>
            </a:pPr>
            <a:r>
              <a:rPr lang="en-US" sz="1800" b="1" dirty="0"/>
              <a:t>Test Description</a:t>
            </a:r>
          </a:p>
          <a:p>
            <a:pPr lvl="0"/>
            <a:r>
              <a:rPr lang="en-US" sz="1800" dirty="0"/>
              <a:t> The underflow test uses additional steps so the second subtraction test demonstrates underflow across the signed, unsigned, and floating-point data types. This prevents unsafe numeric wraparound while still showing the correct result when no overflow or underflow occurs.</a:t>
            </a:r>
          </a:p>
          <a:p>
            <a:pPr marL="0" lvl="0" indent="0" algn="ctr" rtl="0">
              <a:lnSpc>
                <a:spcPct val="90000"/>
              </a:lnSpc>
              <a:spcBef>
                <a:spcPts val="1000"/>
              </a:spcBef>
              <a:spcAft>
                <a:spcPts val="0"/>
              </a:spcAft>
              <a:buSzPts val="1800"/>
              <a:buNone/>
            </a:pPr>
            <a:endParaRPr lang="en-US" sz="1600" b="1" dirty="0"/>
          </a:p>
          <a:p>
            <a:pPr marL="0" lvl="0" indent="0" algn="l" rtl="0">
              <a:lnSpc>
                <a:spcPct val="90000"/>
              </a:lnSpc>
              <a:spcBef>
                <a:spcPts val="1000"/>
              </a:spcBef>
              <a:spcAft>
                <a:spcPts val="0"/>
              </a:spcAft>
              <a:buSzPts val="1800"/>
              <a:buNone/>
            </a:pPr>
            <a:endParaRPr dirty="0"/>
          </a:p>
        </p:txBody>
      </p:sp>
      <p:pic>
        <p:nvPicPr>
          <p:cNvPr id="197" name="Google Shape;197;g9504e29505_0_0" descr="Green Pace logo">
            <a:extLst>
              <a:ext uri="{FF2B5EF4-FFF2-40B4-BE49-F238E27FC236}">
                <a16:creationId xmlns:a16="http://schemas.microsoft.com/office/drawing/2014/main" id="{C84C95CB-7189-A043-60F3-2C35916CBC3A}"/>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3C185DD0-4780-FCF8-752D-B93108585BB0}"/>
              </a:ext>
            </a:extLst>
          </p:cNvPr>
          <p:cNvSpPr txBox="1"/>
          <p:nvPr/>
        </p:nvSpPr>
        <p:spPr>
          <a:xfrm>
            <a:off x="7795994" y="2504528"/>
            <a:ext cx="3288080" cy="338554"/>
          </a:xfrm>
          <a:prstGeom prst="rect">
            <a:avLst/>
          </a:prstGeom>
          <a:noFill/>
        </p:spPr>
        <p:txBody>
          <a:bodyPr wrap="none" rtlCol="0">
            <a:spAutoFit/>
          </a:bodyPr>
          <a:lstStyle/>
          <a:p>
            <a:r>
              <a:rPr lang="en-US" sz="1600" dirty="0">
                <a:solidFill>
                  <a:schemeClr val="bg1"/>
                </a:solidFill>
              </a:rPr>
              <a:t>Screenshot of output on next slide</a:t>
            </a:r>
          </a:p>
        </p:txBody>
      </p:sp>
      <p:pic>
        <p:nvPicPr>
          <p:cNvPr id="8" name="Graphic 7" descr="Arrow Right with solid fill">
            <a:extLst>
              <a:ext uri="{FF2B5EF4-FFF2-40B4-BE49-F238E27FC236}">
                <a16:creationId xmlns:a16="http://schemas.microsoft.com/office/drawing/2014/main" id="{FBAF0616-2E64-D59E-C8BD-EA18187DD9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10" name="Graphic 9" descr="Arrow Right with solid fill">
            <a:extLst>
              <a:ext uri="{FF2B5EF4-FFF2-40B4-BE49-F238E27FC236}">
                <a16:creationId xmlns:a16="http://schemas.microsoft.com/office/drawing/2014/main" id="{3AAB53D8-E408-03FA-683A-2A6CD1DD0B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56275" y="2216605"/>
            <a:ext cx="914400" cy="914400"/>
          </a:xfrm>
          <a:prstGeom prst="rect">
            <a:avLst/>
          </a:prstGeom>
        </p:spPr>
      </p:pic>
    </p:spTree>
    <p:custDataLst>
      <p:tags r:id="rId1"/>
    </p:custDataLst>
    <p:extLst>
      <p:ext uri="{BB962C8B-B14F-4D97-AF65-F5344CB8AC3E}">
        <p14:creationId xmlns:p14="http://schemas.microsoft.com/office/powerpoint/2010/main" val="1477275477"/>
      </p:ext>
    </p:extLst>
  </p:cSld>
  <p:clrMapOvr>
    <a:masterClrMapping/>
  </p:clrMapOvr>
  <mc:AlternateContent xmlns:mc="http://schemas.openxmlformats.org/markup-compatibility/2006">
    <mc:Choice xmlns:p14="http://schemas.microsoft.com/office/powerpoint/2010/main" Requires="p14">
      <p:transition spd="slow" p14:dur="2000" advTm="55000"/>
    </mc:Choice>
    <mc:Fallback>
      <p:transition spd="slow" advTm="55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F799E283-3293-E913-EEB5-7102D665C372}"/>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82B67E30-4523-CB16-CA45-EB4A22228560}"/>
              </a:ext>
            </a:extLst>
          </p:cNvPr>
          <p:cNvSpPr txBox="1">
            <a:spLocks noGrp="1"/>
          </p:cNvSpPr>
          <p:nvPr>
            <p:ph type="title"/>
          </p:nvPr>
        </p:nvSpPr>
        <p:spPr>
          <a:xfrm>
            <a:off x="2916774" y="181763"/>
            <a:ext cx="8610600" cy="1293000"/>
          </a:xfrm>
          <a:prstGeom prst="rect">
            <a:avLst/>
          </a:prstGeom>
          <a:noFill/>
          <a:ln>
            <a:noFill/>
          </a:ln>
        </p:spPr>
        <p:txBody>
          <a:bodyPr spcFirstLastPara="1" wrap="square" lIns="91425" tIns="45700" rIns="91425" bIns="45700" anchor="ctr" anchorCtr="0">
            <a:noAutofit/>
          </a:bodyPr>
          <a:lstStyle/>
          <a:p>
            <a:r>
              <a:rPr lang="en-US" dirty="0"/>
              <a:t>Unit Test 4:</a:t>
            </a:r>
            <a:br>
              <a:rPr lang="en-US" dirty="0"/>
            </a:br>
            <a:r>
              <a:rPr lang="en-US" sz="3200" b="1" dirty="0"/>
              <a:t>Screenshot</a:t>
            </a:r>
            <a:endParaRPr sz="3200" dirty="0"/>
          </a:p>
        </p:txBody>
      </p:sp>
      <p:pic>
        <p:nvPicPr>
          <p:cNvPr id="197" name="Google Shape;197;g9504e29505_0_0" descr="Green Pace logo">
            <a:extLst>
              <a:ext uri="{FF2B5EF4-FFF2-40B4-BE49-F238E27FC236}">
                <a16:creationId xmlns:a16="http://schemas.microsoft.com/office/drawing/2014/main" id="{9E7C1C4A-9EE8-B0D2-0674-412CE502E1A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8" name="Graphic 7" descr="Arrow Right with solid fill">
            <a:extLst>
              <a:ext uri="{FF2B5EF4-FFF2-40B4-BE49-F238E27FC236}">
                <a16:creationId xmlns:a16="http://schemas.microsoft.com/office/drawing/2014/main" id="{F27D270A-91F9-9FE5-8154-43DF7D0851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38800" y="2971800"/>
            <a:ext cx="914400" cy="914400"/>
          </a:xfrm>
          <a:prstGeom prst="rect">
            <a:avLst/>
          </a:prstGeom>
        </p:spPr>
      </p:pic>
      <p:pic>
        <p:nvPicPr>
          <p:cNvPr id="4" name="Picture 3">
            <a:extLst>
              <a:ext uri="{FF2B5EF4-FFF2-40B4-BE49-F238E27FC236}">
                <a16:creationId xmlns:a16="http://schemas.microsoft.com/office/drawing/2014/main" id="{B0EC3F04-E4A1-D1D7-CD90-FBF805867BCA}"/>
              </a:ext>
            </a:extLst>
          </p:cNvPr>
          <p:cNvPicPr>
            <a:picLocks noChangeAspect="1"/>
          </p:cNvPicPr>
          <p:nvPr/>
        </p:nvPicPr>
        <p:blipFill>
          <a:blip r:embed="rId6"/>
          <a:stretch>
            <a:fillRect/>
          </a:stretch>
        </p:blipFill>
        <p:spPr>
          <a:xfrm>
            <a:off x="478801" y="1371601"/>
            <a:ext cx="10605273" cy="4643538"/>
          </a:xfrm>
          <a:prstGeom prst="rect">
            <a:avLst/>
          </a:prstGeom>
        </p:spPr>
      </p:pic>
    </p:spTree>
    <p:custDataLst>
      <p:tags r:id="rId1"/>
    </p:custDataLst>
    <p:extLst>
      <p:ext uri="{BB962C8B-B14F-4D97-AF65-F5344CB8AC3E}">
        <p14:creationId xmlns:p14="http://schemas.microsoft.com/office/powerpoint/2010/main" val="3355977559"/>
      </p:ext>
    </p:extLst>
  </p:cSld>
  <p:clrMapOvr>
    <a:masterClrMapping/>
  </p:clrMapOvr>
  <mc:AlternateContent xmlns:mc="http://schemas.openxmlformats.org/markup-compatibility/2006">
    <mc:Choice xmlns:p14="http://schemas.microsoft.com/office/powerpoint/2010/main" Requires="p14">
      <p:transition spd="slow" p14:dur="2000" advTm="17493"/>
    </mc:Choice>
    <mc:Fallback>
      <p:transition spd="slow" advTm="1749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9820"/>
    </mc:Choice>
    <mc:Fallback>
      <p:transition spd="slow" advTm="398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565991" y="268249"/>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685800" y="1212112"/>
            <a:ext cx="10820400" cy="5006573"/>
          </a:xfrm>
          <a:prstGeom prst="rect">
            <a:avLst/>
          </a:prstGeom>
          <a:noFill/>
          <a:ln>
            <a:noFill/>
          </a:ln>
        </p:spPr>
        <p:txBody>
          <a:bodyPr spcFirstLastPara="1" wrap="square" lIns="91425" tIns="45700" rIns="91425" bIns="45700" anchor="t" anchorCtr="0">
            <a:normAutofit fontScale="62500" lnSpcReduction="20000"/>
          </a:bodyPr>
          <a:lstStyle/>
          <a:p>
            <a:pPr marL="114300" indent="0">
              <a:buNone/>
            </a:pPr>
            <a:r>
              <a:rPr lang="en-US" sz="2600" dirty="0"/>
              <a:t>The DevSecOps pipeline integrates security throughout the entire software development lifecycle rather than waiting until development is complete. During the Assess and Plan phase, security requirements and potential risks are identified before development begins. The Design phase focuses on building secure software using established security principles and coding standards such as the CERT C++ Secure Coding Standard. During the Build phase, developers write secure code while automated tools such as </a:t>
            </a:r>
            <a:r>
              <a:rPr lang="en-US" sz="2600" dirty="0" err="1"/>
              <a:t>CppCheck</a:t>
            </a:r>
            <a:r>
              <a:rPr lang="en-US" sz="2600" dirty="0"/>
              <a:t> and SonarQube identify potential vulnerabilities. In the Verify and Test phase, the application undergoes functional, unit, and security testing to ensure vulnerabilities are identified before deployment. Once testing is complete, the application is securely deployed into production. After deployment, continuous monitoring detects suspicious activity and vulnerabilities, while the Respond and Maintain phase focuses on applying patches, recovering from incidents, and continuously improving the security of the application.</a:t>
            </a:r>
          </a:p>
          <a:p>
            <a:r>
              <a:rPr lang="en-US" sz="2300" dirty="0"/>
              <a:t>In the Build phase, automated static analysis tools such as SonarQube and </a:t>
            </a:r>
            <a:r>
              <a:rPr lang="en-US" sz="2300" dirty="0" err="1"/>
              <a:t>Cppcheck</a:t>
            </a:r>
            <a:r>
              <a:rPr lang="en-US" sz="2300" dirty="0"/>
              <a:t> should be integrated into the CI pipeline. All code commits and pull requests should be automated to trigger scans for violations of the coding standards for integer overflows, memory leaks, null pointer dereferences, buffer overflows, and unsafe string operations. Builds should automatically fail when critical or high-risk violations are detected. This will prevent vulnerable code from passing through the pipeline.</a:t>
            </a:r>
          </a:p>
          <a:p>
            <a:r>
              <a:rPr lang="en-US" sz="2300" dirty="0"/>
              <a:t>In the Verify and Test phase, the use of additional automated testing tools like </a:t>
            </a:r>
            <a:r>
              <a:rPr lang="en-US" sz="2300" dirty="0" err="1"/>
              <a:t>AddressSanitizer</a:t>
            </a:r>
            <a:r>
              <a:rPr lang="en-US" sz="2300" dirty="0"/>
              <a:t> and </a:t>
            </a:r>
            <a:r>
              <a:rPr lang="en-US" sz="2300" dirty="0" err="1"/>
              <a:t>Valgrind</a:t>
            </a:r>
            <a:r>
              <a:rPr lang="en-US" sz="2300" dirty="0"/>
              <a:t> should be used to identify memory leaks, runtime memory errors , and out-of-bounds array access. Automated unit tests are also recommended to validate proper error handling and secure application behavior. Security findings should be reviewed and corrected before deployment approval is granted.</a:t>
            </a:r>
          </a:p>
          <a:p>
            <a:r>
              <a:rPr lang="en-US" sz="2300" dirty="0"/>
              <a:t>In the Monitor and Detect phase,  should continue to support compliance by collecting logs, monitoring application behavior, and identifying security events that may indicate coding standard violations or previously unknown vulnerabilities. By integrating automated security checks throughout the DevSecOps lifecycle, Green Pace can enforce secure coding practices continuously and ensure that security is addressed proactively rather than after vulnerabilities are discovered in production.</a:t>
            </a:r>
          </a:p>
          <a:p>
            <a:pPr marL="457200" lvl="1" indent="0" algn="l" rtl="0">
              <a:lnSpc>
                <a:spcPct val="90000"/>
              </a:lnSpc>
              <a:spcBef>
                <a:spcPts val="500"/>
              </a:spcBef>
              <a:spcAft>
                <a:spcPts val="0"/>
              </a:spcAft>
              <a:buClr>
                <a:schemeClr val="lt1"/>
              </a:buClr>
              <a:buSzPts val="2000"/>
              <a:buNone/>
            </a:pPr>
            <a:endParaRPr lang="en-US" sz="1600"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9440"/>
    </mc:Choice>
    <mc:Fallback>
      <p:transition spd="slow" advTm="7944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131736"/>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138223" y="1105786"/>
            <a:ext cx="11367977" cy="4635795"/>
          </a:xfrm>
          <a:prstGeom prst="rect">
            <a:avLst/>
          </a:prstGeom>
          <a:noFill/>
          <a:ln>
            <a:noFill/>
          </a:ln>
        </p:spPr>
        <p:txBody>
          <a:bodyPr spcFirstLastPara="1" wrap="square" lIns="91425" tIns="45700" rIns="91425" bIns="45700" anchor="t" anchorCtr="0">
            <a:normAutofit fontScale="25000" lnSpcReduction="20000"/>
          </a:bodyPr>
          <a:lstStyle/>
          <a:p>
            <a:r>
              <a:rPr lang="en-US" sz="5600" b="1" dirty="0"/>
              <a:t>Problems</a:t>
            </a:r>
          </a:p>
          <a:p>
            <a:pPr marL="114300" indent="0">
              <a:buNone/>
            </a:pPr>
            <a:r>
              <a:rPr lang="en-US" sz="5600" dirty="0"/>
              <a:t>Traditional software development often delays security testing until the end of the development lifecycle. This allows vulnerabilities such as integer overflows, buffer overflows, null pointer dereferences, memory leaks, and unsafe string handling to remain undetected until deployment, increasing both security risks and remediation costs.</a:t>
            </a:r>
          </a:p>
          <a:p>
            <a:r>
              <a:rPr lang="en-US" sz="5600" b="1" dirty="0"/>
              <a:t>Solutions</a:t>
            </a:r>
          </a:p>
          <a:p>
            <a:pPr marL="114300" indent="0">
              <a:buNone/>
            </a:pPr>
            <a:r>
              <a:rPr lang="en-US" sz="5600" dirty="0"/>
              <a:t>Integrating security throughout the DevSecOps pipeline addresses these risks by combining secure coding standards, automated static analysis tools such as </a:t>
            </a:r>
            <a:r>
              <a:rPr lang="en-US" sz="5600" dirty="0" err="1"/>
              <a:t>CppCheck</a:t>
            </a:r>
            <a:r>
              <a:rPr lang="en-US" sz="5600" dirty="0"/>
              <a:t> and SonarQube, runtime testing with </a:t>
            </a:r>
            <a:r>
              <a:rPr lang="en-US" sz="5600" dirty="0" err="1"/>
              <a:t>AddressSanitizer</a:t>
            </a:r>
            <a:r>
              <a:rPr lang="en-US" sz="5600" dirty="0"/>
              <a:t> and </a:t>
            </a:r>
            <a:r>
              <a:rPr lang="en-US" sz="5600" dirty="0" err="1"/>
              <a:t>Valgrind</a:t>
            </a:r>
            <a:r>
              <a:rPr lang="en-US" sz="5600" dirty="0"/>
              <a:t>, automated unit testing, and continuous monitoring after deployment. Vulnerabilities are detected and corrected much earlier in the development process.</a:t>
            </a:r>
          </a:p>
          <a:p>
            <a:r>
              <a:rPr lang="en-US" sz="5600" b="1" dirty="0"/>
              <a:t>Benefits of Acting Now</a:t>
            </a:r>
          </a:p>
          <a:p>
            <a:pPr marL="114300" indent="0">
              <a:buNone/>
            </a:pPr>
            <a:r>
              <a:rPr lang="en-US" sz="5600" dirty="0"/>
              <a:t>Implementing DevSecOps early reduces the likelihood of security incidents, lowers remediation costs, improves software quality, and prevents vulnerable code from reaching production. Early detection also shortens development cycles by resolving issues before deployment.</a:t>
            </a:r>
          </a:p>
          <a:p>
            <a:r>
              <a:rPr lang="en-US" sz="5600" b="1" dirty="0"/>
              <a:t>Risks of Waiting</a:t>
            </a:r>
          </a:p>
          <a:p>
            <a:pPr marL="114300" indent="0">
              <a:buNone/>
            </a:pPr>
            <a:r>
              <a:rPr lang="en-US" sz="5600" dirty="0"/>
              <a:t>Delaying security testing increases the likelihood that vulnerabilities will reach production, where they are significantly more expensive to correct. Organizations also face greater risks of data breaches, application downtime, regulatory penalties, and damage to customer trust.</a:t>
            </a:r>
          </a:p>
          <a:p>
            <a:r>
              <a:rPr lang="en-US" sz="5600" b="1" dirty="0"/>
              <a:t>Where the Strategy Is Lacking</a:t>
            </a:r>
          </a:p>
          <a:p>
            <a:pPr marL="114300" indent="0">
              <a:buNone/>
            </a:pPr>
            <a:r>
              <a:rPr lang="en-US" sz="5600" dirty="0"/>
              <a:t>Although DevSecOps provides strong automated security testing, it cannot detect every vulnerability. Business logic flaws, zero-day vulnerabilities, and sophisticated attacks may still require manual code reviews, penetration testing, threat modeling, and regular security training for developers.</a:t>
            </a:r>
          </a:p>
          <a:p>
            <a:r>
              <a:rPr lang="en-US" sz="5600" b="1" dirty="0"/>
              <a:t>Recommended Next Steps</a:t>
            </a:r>
          </a:p>
          <a:p>
            <a:pPr marL="114300" indent="0">
              <a:buNone/>
            </a:pPr>
            <a:r>
              <a:rPr lang="en-US" sz="5600" dirty="0"/>
              <a:t>Continue integrating automated security tools into the CI/CD pipeline, require security reviews before deployment, perform regular penetration testing, keep development tools updated, and provide ongoing secure coding training to development teams.</a:t>
            </a:r>
          </a:p>
          <a:p>
            <a:pPr marL="228600" lvl="0" indent="-228600" algn="l" rtl="0">
              <a:lnSpc>
                <a:spcPct val="90000"/>
              </a:lnSpc>
              <a:spcBef>
                <a:spcPts val="0"/>
              </a:spcBef>
              <a:spcAft>
                <a:spcPts val="0"/>
              </a:spcAft>
              <a:buClr>
                <a:schemeClr val="lt1"/>
              </a:buClr>
              <a:buSzPts val="2000"/>
              <a:buChar char="•"/>
            </a:pPr>
            <a:endParaRPr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9702"/>
    </mc:Choice>
    <mc:Fallback>
      <p:transition spd="slow" advTm="7970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126420"/>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520995" y="1307806"/>
            <a:ext cx="10985205" cy="4910880"/>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sz="1400" b="1" dirty="0"/>
              <a:t>Current Gaps</a:t>
            </a:r>
          </a:p>
          <a:p>
            <a:r>
              <a:rPr lang="en-US" sz="1400" dirty="0"/>
              <a:t>The policy relies heavily on automated security tools but does not require manual code reviews or penetration testing.</a:t>
            </a:r>
          </a:p>
          <a:p>
            <a:r>
              <a:rPr lang="en-US" sz="1400" dirty="0"/>
              <a:t>Third-party software dependencies are not continuously monitored for known vulnerabilities.</a:t>
            </a:r>
          </a:p>
          <a:p>
            <a:r>
              <a:rPr lang="en-US" sz="1400" dirty="0"/>
              <a:t>Developer security training and recurring policy reviews are not formally required.</a:t>
            </a:r>
          </a:p>
          <a:p>
            <a:r>
              <a:rPr lang="en-US" sz="1400" dirty="0"/>
              <a:t>The policy does not include a documented incident response and recovery plan.</a:t>
            </a:r>
          </a:p>
          <a:p>
            <a:pPr marL="114300" indent="0">
              <a:buNone/>
            </a:pPr>
            <a:endParaRPr lang="en-US" sz="1400" b="1" dirty="0"/>
          </a:p>
          <a:p>
            <a:pPr marL="114300" indent="0">
              <a:buNone/>
            </a:pPr>
            <a:r>
              <a:rPr lang="en-US" sz="1400" b="1" dirty="0"/>
              <a:t>Future Improvements</a:t>
            </a:r>
          </a:p>
          <a:p>
            <a:r>
              <a:rPr lang="en-US" sz="1400" dirty="0"/>
              <a:t>Incorporate regular penetration testing and manual security reviews.</a:t>
            </a:r>
          </a:p>
          <a:p>
            <a:r>
              <a:rPr lang="en-US" sz="1400" dirty="0"/>
              <a:t>Implement automated dependency scanning using Software Composition Analysis (SCA) tools.</a:t>
            </a:r>
          </a:p>
          <a:p>
            <a:r>
              <a:rPr lang="en-US" sz="1400" dirty="0"/>
              <a:t>Require annual secure coding training based on the CERT C++ Secure Coding Standard and the OWASP Top 10.</a:t>
            </a:r>
          </a:p>
          <a:p>
            <a:r>
              <a:rPr lang="en-US" sz="1400" dirty="0"/>
              <a:t>Review and update the security policy annually to address emerging threats.</a:t>
            </a:r>
          </a:p>
          <a:p>
            <a:r>
              <a:rPr lang="en-US" sz="1400" dirty="0"/>
              <a:t>Develop and maintain a formal incident response plan.</a:t>
            </a:r>
          </a:p>
          <a:p>
            <a:pPr marL="114300" indent="0">
              <a:buNone/>
            </a:pPr>
            <a:endParaRPr lang="en-US" sz="1400" b="1" dirty="0"/>
          </a:p>
          <a:p>
            <a:pPr marL="114300" indent="0">
              <a:buNone/>
            </a:pPr>
            <a:r>
              <a:rPr lang="en-US" sz="1400" b="1" dirty="0"/>
              <a:t>Real-World Example</a:t>
            </a:r>
          </a:p>
          <a:p>
            <a:r>
              <a:rPr lang="en-US" sz="1400" dirty="0"/>
              <a:t>The 2020 SolarWinds supply chain attack demonstrated that organizations with strong internal security can still be compromised through vulnerable third-party software. Continuous dependency monitoring, secure software supply chain practices, and regular policy reviews help reduce these risks.</a:t>
            </a:r>
          </a:p>
          <a:p>
            <a:pPr marL="114300" indent="0">
              <a:buNone/>
            </a:pPr>
            <a:endParaRPr lang="en-US" sz="1400" dirty="0"/>
          </a:p>
          <a:p>
            <a:endParaRPr lang="en-US" sz="1400" dirty="0"/>
          </a:p>
          <a:p>
            <a:endParaRPr lang="en-US" sz="1400" dirty="0"/>
          </a:p>
          <a:p>
            <a:pPr marL="114300" indent="0">
              <a:buNone/>
            </a:pPr>
            <a:endParaRPr lang="en-US" sz="1400" dirty="0"/>
          </a:p>
          <a:p>
            <a:pPr marL="914400" lvl="2" indent="0" algn="l" rtl="0">
              <a:lnSpc>
                <a:spcPct val="90000"/>
              </a:lnSpc>
              <a:spcBef>
                <a:spcPts val="0"/>
              </a:spcBef>
              <a:spcAft>
                <a:spcPts val="0"/>
              </a:spcAft>
              <a:buClr>
                <a:schemeClr val="lt1"/>
              </a:buClr>
              <a:buSzPts val="1800"/>
              <a:buNone/>
            </a:pPr>
            <a:endParaRPr sz="1400"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0973"/>
    </mc:Choice>
    <mc:Fallback>
      <p:transition spd="slow" advTm="7097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CONCLUSIONS</a:t>
            </a:r>
            <a:endParaRPr dirty="0"/>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114300" indent="0">
              <a:buNone/>
            </a:pPr>
            <a:r>
              <a:rPr lang="en-US" b="1" dirty="0"/>
              <a:t>Green Pace should continue adopting industry best practices by:</a:t>
            </a:r>
          </a:p>
          <a:p>
            <a:r>
              <a:rPr lang="en-US" sz="1700" dirty="0"/>
              <a:t>Following the CERT C++ Secure Coding Standard throughout development.</a:t>
            </a:r>
          </a:p>
          <a:p>
            <a:r>
              <a:rPr lang="en-US" sz="1700" dirty="0"/>
              <a:t>Integrating automated security tools such as </a:t>
            </a:r>
            <a:r>
              <a:rPr lang="en-US" sz="1700" dirty="0" err="1"/>
              <a:t>CppCheck</a:t>
            </a:r>
            <a:r>
              <a:rPr lang="en-US" sz="1700" dirty="0"/>
              <a:t>, SonarQube, </a:t>
            </a:r>
            <a:r>
              <a:rPr lang="en-US" sz="1700" dirty="0" err="1"/>
              <a:t>AddressSanitizer</a:t>
            </a:r>
            <a:r>
              <a:rPr lang="en-US" sz="1700" dirty="0"/>
              <a:t>, and </a:t>
            </a:r>
            <a:r>
              <a:rPr lang="en-US" sz="1700" dirty="0" err="1"/>
              <a:t>Valgrind</a:t>
            </a:r>
            <a:r>
              <a:rPr lang="en-US" sz="1700" dirty="0"/>
              <a:t> into the CI/CD pipeline.</a:t>
            </a:r>
          </a:p>
          <a:p>
            <a:r>
              <a:rPr lang="en-US" sz="1700" dirty="0"/>
              <a:t>Performing standard manual code reviews and penetration testing.</a:t>
            </a:r>
          </a:p>
          <a:p>
            <a:r>
              <a:rPr lang="en-US" sz="1700" dirty="0"/>
              <a:t>Monitoring third-party software dependencies for newly discovered vulnerabilities.</a:t>
            </a:r>
          </a:p>
          <a:p>
            <a:r>
              <a:rPr lang="en-US" sz="1700" dirty="0"/>
              <a:t>Providing recurring secure coding training for developers based on the CERT C++ Secure Coding Standard and the OWASP Top 10.</a:t>
            </a:r>
          </a:p>
          <a:p>
            <a:r>
              <a:rPr lang="en-US" sz="1700" dirty="0"/>
              <a:t>Reviewing and updating the security policy annually to address emerging threats.</a:t>
            </a:r>
          </a:p>
          <a:p>
            <a:pPr marL="228600" indent="-88900">
              <a:buSzPts val="2200"/>
              <a:buNone/>
            </a:pPr>
            <a:r>
              <a:rPr lang="en-US" sz="1500" dirty="0"/>
              <a:t>The 2020 SolarWinds supply chain attack demonstrated that secure coding alone is not enough. Organizations must continuously monitor software dependencies, strengthen supply chain security, and regularly update their security policies to reduce the risk of future attacks. By adopting these recommendations, Green Pace can improve software quality, reduce security risks, and better protect organizational and customer data.</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1668"/>
    </mc:Choice>
    <mc:Fallback>
      <p:transition spd="slow" advTm="7166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Molina-Runez, A. (2026). *Project One: Security Policy * [Unpublished course assignment]. Southern New Hampshire University.</a:t>
            </a:r>
          </a:p>
          <a:p>
            <a:r>
              <a:rPr lang="en-US" dirty="0"/>
              <a:t>Molina-Runez, A. (2026). *Module Four: Unit testing with </a:t>
            </a:r>
            <a:r>
              <a:rPr lang="en-US" dirty="0" err="1"/>
              <a:t>GoogleTest</a:t>
            </a:r>
            <a:r>
              <a:rPr lang="en-US" dirty="0"/>
              <a:t>* [Unpublished course assignment]. Southern New Hampshire University.</a:t>
            </a:r>
          </a:p>
          <a:p>
            <a:r>
              <a:rPr lang="en-US" dirty="0"/>
              <a:t>Molina-Runez, A. (2026). *Module 2: Buffer overflow activity* [Unpublished course assignment]. Southern New Hampshire University.</a:t>
            </a:r>
          </a:p>
          <a:p>
            <a:r>
              <a:rPr lang="en-US" dirty="0"/>
              <a:t>Molina-Runez, A. (2026). * Module 1: Numeric Overflow Coding activity* [Unpublished course assignment]. Southern New Hampshire University.</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949</TotalTime>
  <Words>2529</Words>
  <Application>Microsoft Macintosh PowerPoint</Application>
  <PresentationFormat>Widescreen</PresentationFormat>
  <Paragraphs>162</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 1: Does ClearCollection() remove all smart pointers from the collection? </vt:lpstr>
      <vt:lpstr>Unit Test 2: How do I modify the run_query function to detect a potential SQL Injection attack?</vt:lpstr>
      <vt:lpstr>Unit Test 3: How do I detect and prevent numeric overflow or underflow when adding numbers?</vt:lpstr>
      <vt:lpstr>Unit Test 3: Screenshot</vt:lpstr>
      <vt:lpstr>Unit Test 4: How do I detect and prevent numeric without underflow and with underflow when subtracting numbers?</vt:lpstr>
      <vt:lpstr>Unit Test 4: Screenshot</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Ashley Runez</cp:lastModifiedBy>
  <cp:revision>10</cp:revision>
  <dcterms:created xsi:type="dcterms:W3CDTF">2020-08-19T17:59:24Z</dcterms:created>
  <dcterms:modified xsi:type="dcterms:W3CDTF">2026-06-26T20:22:16Z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